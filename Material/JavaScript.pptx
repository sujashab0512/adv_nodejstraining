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5052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16151" y="1690624"/>
            <a:ext cx="7428230" cy="2533650"/>
          </a:xfrm>
          <a:custGeom>
            <a:avLst/>
            <a:gdLst/>
            <a:ahLst/>
            <a:cxnLst/>
            <a:rect l="l" t="t" r="r" b="b"/>
            <a:pathLst>
              <a:path w="7428230" h="2533650">
                <a:moveTo>
                  <a:pt x="7427976" y="0"/>
                </a:moveTo>
                <a:lnTo>
                  <a:pt x="0" y="0"/>
                </a:lnTo>
                <a:lnTo>
                  <a:pt x="0" y="2533650"/>
                </a:lnTo>
                <a:lnTo>
                  <a:pt x="7427976" y="2533650"/>
                </a:lnTo>
                <a:lnTo>
                  <a:pt x="7427976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3087" y="3592575"/>
            <a:ext cx="568325" cy="631825"/>
          </a:xfrm>
          <a:custGeom>
            <a:avLst/>
            <a:gdLst/>
            <a:ahLst/>
            <a:cxnLst/>
            <a:rect l="l" t="t" r="r" b="b"/>
            <a:pathLst>
              <a:path w="568325" h="631825">
                <a:moveTo>
                  <a:pt x="0" y="631825"/>
                </a:moveTo>
                <a:lnTo>
                  <a:pt x="568325" y="631825"/>
                </a:lnTo>
                <a:lnTo>
                  <a:pt x="568325" y="0"/>
                </a:lnTo>
                <a:lnTo>
                  <a:pt x="0" y="0"/>
                </a:lnTo>
                <a:lnTo>
                  <a:pt x="0" y="63182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16151" y="1066799"/>
            <a:ext cx="1151255" cy="1257935"/>
          </a:xfrm>
          <a:custGeom>
            <a:avLst/>
            <a:gdLst/>
            <a:ahLst/>
            <a:cxnLst/>
            <a:rect l="l" t="t" r="r" b="b"/>
            <a:pathLst>
              <a:path w="1151255" h="1257935">
                <a:moveTo>
                  <a:pt x="565150" y="623887"/>
                </a:moveTo>
                <a:lnTo>
                  <a:pt x="0" y="623887"/>
                </a:lnTo>
                <a:lnTo>
                  <a:pt x="0" y="1257363"/>
                </a:lnTo>
                <a:lnTo>
                  <a:pt x="565150" y="1257363"/>
                </a:lnTo>
                <a:lnTo>
                  <a:pt x="565150" y="623887"/>
                </a:lnTo>
                <a:close/>
              </a:path>
              <a:path w="1151255" h="1257935">
                <a:moveTo>
                  <a:pt x="1150937" y="0"/>
                </a:moveTo>
                <a:lnTo>
                  <a:pt x="565150" y="0"/>
                </a:lnTo>
                <a:lnTo>
                  <a:pt x="565150" y="623887"/>
                </a:lnTo>
                <a:lnTo>
                  <a:pt x="1150937" y="623887"/>
                </a:lnTo>
                <a:lnTo>
                  <a:pt x="1150937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41412" y="3592575"/>
            <a:ext cx="584200" cy="631825"/>
          </a:xfrm>
          <a:custGeom>
            <a:avLst/>
            <a:gdLst/>
            <a:ahLst/>
            <a:cxnLst/>
            <a:rect l="l" t="t" r="r" b="b"/>
            <a:pathLst>
              <a:path w="584200" h="631825">
                <a:moveTo>
                  <a:pt x="0" y="631825"/>
                </a:moveTo>
                <a:lnTo>
                  <a:pt x="584200" y="631825"/>
                </a:lnTo>
                <a:lnTo>
                  <a:pt x="584200" y="0"/>
                </a:lnTo>
                <a:lnTo>
                  <a:pt x="0" y="0"/>
                </a:lnTo>
                <a:lnTo>
                  <a:pt x="0" y="63182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281301" y="1690687"/>
            <a:ext cx="586105" cy="643255"/>
          </a:xfrm>
          <a:custGeom>
            <a:avLst/>
            <a:gdLst/>
            <a:ahLst/>
            <a:cxnLst/>
            <a:rect l="l" t="t" r="r" b="b"/>
            <a:pathLst>
              <a:path w="586105" h="643255">
                <a:moveTo>
                  <a:pt x="585787" y="0"/>
                </a:moveTo>
                <a:lnTo>
                  <a:pt x="0" y="0"/>
                </a:lnTo>
                <a:lnTo>
                  <a:pt x="0" y="642937"/>
                </a:lnTo>
                <a:lnTo>
                  <a:pt x="585787" y="642937"/>
                </a:lnTo>
                <a:lnTo>
                  <a:pt x="585787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41412" y="2324163"/>
            <a:ext cx="575310" cy="624205"/>
          </a:xfrm>
          <a:custGeom>
            <a:avLst/>
            <a:gdLst/>
            <a:ahLst/>
            <a:cxnLst/>
            <a:rect l="l" t="t" r="r" b="b"/>
            <a:pathLst>
              <a:path w="575310" h="624205">
                <a:moveTo>
                  <a:pt x="0" y="623887"/>
                </a:moveTo>
                <a:lnTo>
                  <a:pt x="574738" y="623887"/>
                </a:lnTo>
                <a:lnTo>
                  <a:pt x="574738" y="0"/>
                </a:lnTo>
                <a:lnTo>
                  <a:pt x="0" y="0"/>
                </a:lnTo>
                <a:lnTo>
                  <a:pt x="0" y="62388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2324163"/>
            <a:ext cx="582930" cy="633730"/>
          </a:xfrm>
          <a:custGeom>
            <a:avLst/>
            <a:gdLst/>
            <a:ahLst/>
            <a:cxnLst/>
            <a:rect l="l" t="t" r="r" b="b"/>
            <a:pathLst>
              <a:path w="582930" h="633730">
                <a:moveTo>
                  <a:pt x="582612" y="0"/>
                </a:moveTo>
                <a:lnTo>
                  <a:pt x="0" y="0"/>
                </a:lnTo>
                <a:lnTo>
                  <a:pt x="0" y="633412"/>
                </a:lnTo>
                <a:lnTo>
                  <a:pt x="582612" y="633412"/>
                </a:lnTo>
                <a:lnTo>
                  <a:pt x="582612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716151" y="2324163"/>
            <a:ext cx="574675" cy="633730"/>
          </a:xfrm>
          <a:custGeom>
            <a:avLst/>
            <a:gdLst/>
            <a:ahLst/>
            <a:cxnLst/>
            <a:rect l="l" t="t" r="r" b="b"/>
            <a:pathLst>
              <a:path w="574675" h="633730">
                <a:moveTo>
                  <a:pt x="574675" y="0"/>
                </a:moveTo>
                <a:lnTo>
                  <a:pt x="0" y="0"/>
                </a:lnTo>
                <a:lnTo>
                  <a:pt x="0" y="633412"/>
                </a:lnTo>
                <a:lnTo>
                  <a:pt x="574675" y="633412"/>
                </a:lnTo>
                <a:lnTo>
                  <a:pt x="574675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73087" y="2948050"/>
            <a:ext cx="568325" cy="644525"/>
          </a:xfrm>
          <a:custGeom>
            <a:avLst/>
            <a:gdLst/>
            <a:ahLst/>
            <a:cxnLst/>
            <a:rect l="l" t="t" r="r" b="b"/>
            <a:pathLst>
              <a:path w="568325" h="644525">
                <a:moveTo>
                  <a:pt x="0" y="644525"/>
                </a:moveTo>
                <a:lnTo>
                  <a:pt x="568325" y="644525"/>
                </a:lnTo>
                <a:lnTo>
                  <a:pt x="568325" y="0"/>
                </a:lnTo>
                <a:lnTo>
                  <a:pt x="0" y="0"/>
                </a:lnTo>
                <a:lnTo>
                  <a:pt x="0" y="644525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41412" y="2948050"/>
            <a:ext cx="584200" cy="644525"/>
          </a:xfrm>
          <a:custGeom>
            <a:avLst/>
            <a:gdLst/>
            <a:ahLst/>
            <a:cxnLst/>
            <a:rect l="l" t="t" r="r" b="b"/>
            <a:pathLst>
              <a:path w="584200" h="644525">
                <a:moveTo>
                  <a:pt x="584200" y="0"/>
                </a:moveTo>
                <a:lnTo>
                  <a:pt x="0" y="0"/>
                </a:lnTo>
                <a:lnTo>
                  <a:pt x="0" y="644525"/>
                </a:lnTo>
                <a:lnTo>
                  <a:pt x="584200" y="644525"/>
                </a:lnTo>
                <a:lnTo>
                  <a:pt x="5842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07563" y="2674112"/>
            <a:ext cx="565213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5052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16151" y="1690624"/>
            <a:ext cx="7428230" cy="2533650"/>
          </a:xfrm>
          <a:custGeom>
            <a:avLst/>
            <a:gdLst/>
            <a:ahLst/>
            <a:cxnLst/>
            <a:rect l="l" t="t" r="r" b="b"/>
            <a:pathLst>
              <a:path w="7428230" h="2533650">
                <a:moveTo>
                  <a:pt x="7427976" y="0"/>
                </a:moveTo>
                <a:lnTo>
                  <a:pt x="0" y="0"/>
                </a:lnTo>
                <a:lnTo>
                  <a:pt x="0" y="2533650"/>
                </a:lnTo>
                <a:lnTo>
                  <a:pt x="7427976" y="2533650"/>
                </a:lnTo>
                <a:lnTo>
                  <a:pt x="7427976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3087" y="3592575"/>
            <a:ext cx="568325" cy="631825"/>
          </a:xfrm>
          <a:custGeom>
            <a:avLst/>
            <a:gdLst/>
            <a:ahLst/>
            <a:cxnLst/>
            <a:rect l="l" t="t" r="r" b="b"/>
            <a:pathLst>
              <a:path w="568325" h="631825">
                <a:moveTo>
                  <a:pt x="0" y="631825"/>
                </a:moveTo>
                <a:lnTo>
                  <a:pt x="568325" y="631825"/>
                </a:lnTo>
                <a:lnTo>
                  <a:pt x="568325" y="0"/>
                </a:lnTo>
                <a:lnTo>
                  <a:pt x="0" y="0"/>
                </a:lnTo>
                <a:lnTo>
                  <a:pt x="0" y="63182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16151" y="1066799"/>
            <a:ext cx="1151255" cy="1257935"/>
          </a:xfrm>
          <a:custGeom>
            <a:avLst/>
            <a:gdLst/>
            <a:ahLst/>
            <a:cxnLst/>
            <a:rect l="l" t="t" r="r" b="b"/>
            <a:pathLst>
              <a:path w="1151255" h="1257935">
                <a:moveTo>
                  <a:pt x="565150" y="623887"/>
                </a:moveTo>
                <a:lnTo>
                  <a:pt x="0" y="623887"/>
                </a:lnTo>
                <a:lnTo>
                  <a:pt x="0" y="1257363"/>
                </a:lnTo>
                <a:lnTo>
                  <a:pt x="565150" y="1257363"/>
                </a:lnTo>
                <a:lnTo>
                  <a:pt x="565150" y="623887"/>
                </a:lnTo>
                <a:close/>
              </a:path>
              <a:path w="1151255" h="1257935">
                <a:moveTo>
                  <a:pt x="1150937" y="0"/>
                </a:moveTo>
                <a:lnTo>
                  <a:pt x="565150" y="0"/>
                </a:lnTo>
                <a:lnTo>
                  <a:pt x="565150" y="623887"/>
                </a:lnTo>
                <a:lnTo>
                  <a:pt x="1150937" y="623887"/>
                </a:lnTo>
                <a:lnTo>
                  <a:pt x="1150937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41412" y="3592575"/>
            <a:ext cx="584200" cy="631825"/>
          </a:xfrm>
          <a:custGeom>
            <a:avLst/>
            <a:gdLst/>
            <a:ahLst/>
            <a:cxnLst/>
            <a:rect l="l" t="t" r="r" b="b"/>
            <a:pathLst>
              <a:path w="584200" h="631825">
                <a:moveTo>
                  <a:pt x="0" y="631825"/>
                </a:moveTo>
                <a:lnTo>
                  <a:pt x="584200" y="631825"/>
                </a:lnTo>
                <a:lnTo>
                  <a:pt x="584200" y="0"/>
                </a:lnTo>
                <a:lnTo>
                  <a:pt x="0" y="0"/>
                </a:lnTo>
                <a:lnTo>
                  <a:pt x="0" y="63182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281301" y="1690687"/>
            <a:ext cx="586105" cy="643255"/>
          </a:xfrm>
          <a:custGeom>
            <a:avLst/>
            <a:gdLst/>
            <a:ahLst/>
            <a:cxnLst/>
            <a:rect l="l" t="t" r="r" b="b"/>
            <a:pathLst>
              <a:path w="586105" h="643255">
                <a:moveTo>
                  <a:pt x="585787" y="0"/>
                </a:moveTo>
                <a:lnTo>
                  <a:pt x="0" y="0"/>
                </a:lnTo>
                <a:lnTo>
                  <a:pt x="0" y="642937"/>
                </a:lnTo>
                <a:lnTo>
                  <a:pt x="585787" y="642937"/>
                </a:lnTo>
                <a:lnTo>
                  <a:pt x="585787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41412" y="2324163"/>
            <a:ext cx="575310" cy="624205"/>
          </a:xfrm>
          <a:custGeom>
            <a:avLst/>
            <a:gdLst/>
            <a:ahLst/>
            <a:cxnLst/>
            <a:rect l="l" t="t" r="r" b="b"/>
            <a:pathLst>
              <a:path w="575310" h="624205">
                <a:moveTo>
                  <a:pt x="0" y="623887"/>
                </a:moveTo>
                <a:lnTo>
                  <a:pt x="574738" y="623887"/>
                </a:lnTo>
                <a:lnTo>
                  <a:pt x="574738" y="0"/>
                </a:lnTo>
                <a:lnTo>
                  <a:pt x="0" y="0"/>
                </a:lnTo>
                <a:lnTo>
                  <a:pt x="0" y="62388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2324163"/>
            <a:ext cx="582930" cy="633730"/>
          </a:xfrm>
          <a:custGeom>
            <a:avLst/>
            <a:gdLst/>
            <a:ahLst/>
            <a:cxnLst/>
            <a:rect l="l" t="t" r="r" b="b"/>
            <a:pathLst>
              <a:path w="582930" h="633730">
                <a:moveTo>
                  <a:pt x="582612" y="0"/>
                </a:moveTo>
                <a:lnTo>
                  <a:pt x="0" y="0"/>
                </a:lnTo>
                <a:lnTo>
                  <a:pt x="0" y="633412"/>
                </a:lnTo>
                <a:lnTo>
                  <a:pt x="582612" y="633412"/>
                </a:lnTo>
                <a:lnTo>
                  <a:pt x="582612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716151" y="2324163"/>
            <a:ext cx="574675" cy="633730"/>
          </a:xfrm>
          <a:custGeom>
            <a:avLst/>
            <a:gdLst/>
            <a:ahLst/>
            <a:cxnLst/>
            <a:rect l="l" t="t" r="r" b="b"/>
            <a:pathLst>
              <a:path w="574675" h="633730">
                <a:moveTo>
                  <a:pt x="574675" y="0"/>
                </a:moveTo>
                <a:lnTo>
                  <a:pt x="0" y="0"/>
                </a:lnTo>
                <a:lnTo>
                  <a:pt x="0" y="633412"/>
                </a:lnTo>
                <a:lnTo>
                  <a:pt x="574675" y="633412"/>
                </a:lnTo>
                <a:lnTo>
                  <a:pt x="574675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73087" y="2948050"/>
            <a:ext cx="568325" cy="644525"/>
          </a:xfrm>
          <a:custGeom>
            <a:avLst/>
            <a:gdLst/>
            <a:ahLst/>
            <a:cxnLst/>
            <a:rect l="l" t="t" r="r" b="b"/>
            <a:pathLst>
              <a:path w="568325" h="644525">
                <a:moveTo>
                  <a:pt x="0" y="644525"/>
                </a:moveTo>
                <a:lnTo>
                  <a:pt x="568325" y="644525"/>
                </a:lnTo>
                <a:lnTo>
                  <a:pt x="568325" y="0"/>
                </a:lnTo>
                <a:lnTo>
                  <a:pt x="0" y="0"/>
                </a:lnTo>
                <a:lnTo>
                  <a:pt x="0" y="644525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41412" y="2948050"/>
            <a:ext cx="584200" cy="644525"/>
          </a:xfrm>
          <a:custGeom>
            <a:avLst/>
            <a:gdLst/>
            <a:ahLst/>
            <a:cxnLst/>
            <a:rect l="l" t="t" r="r" b="b"/>
            <a:pathLst>
              <a:path w="584200" h="644525">
                <a:moveTo>
                  <a:pt x="584200" y="0"/>
                </a:moveTo>
                <a:lnTo>
                  <a:pt x="0" y="0"/>
                </a:lnTo>
                <a:lnTo>
                  <a:pt x="0" y="644525"/>
                </a:lnTo>
                <a:lnTo>
                  <a:pt x="584200" y="644525"/>
                </a:lnTo>
                <a:lnTo>
                  <a:pt x="5842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63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874"/>
                </a:moveTo>
                <a:lnTo>
                  <a:pt x="0" y="134874"/>
                </a:lnTo>
                <a:lnTo>
                  <a:pt x="0" y="271399"/>
                </a:lnTo>
                <a:lnTo>
                  <a:pt x="138112" y="271399"/>
                </a:lnTo>
                <a:lnTo>
                  <a:pt x="138112" y="134874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874"/>
                </a:lnTo>
                <a:lnTo>
                  <a:pt x="277812" y="134874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88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09345"/>
            <a:ext cx="7011034" cy="521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01826"/>
            <a:ext cx="8034020" cy="479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31454" y="6432862"/>
            <a:ext cx="315341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javascript.crockford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ikipedia.com/" TargetMode="External"/><Relationship Id="rId4" Type="http://schemas.openxmlformats.org/officeDocument/2006/relationships/hyperlink" Target="http://www.ecma-international.org/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FFFFFF"/>
                </a:solidFill>
                <a:latin typeface="Verdana"/>
                <a:cs typeface="Verdana"/>
              </a:rPr>
              <a:t>JavaScript </a:t>
            </a:r>
            <a:r>
              <a:rPr b="1" spc="-10" dirty="0">
                <a:solidFill>
                  <a:srgbClr val="FFFFFF"/>
                </a:solidFill>
                <a:latin typeface="Verdana"/>
                <a:cs typeface="Verdana"/>
              </a:rPr>
              <a:t>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Contents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69630" y="6432862"/>
            <a:ext cx="139065" cy="2425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1341471"/>
            <a:ext cx="5913120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What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JavaScript?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Basics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(ECMAScript)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Oriented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JavaScript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Expressions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Error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Handling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References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5759" y="2674112"/>
            <a:ext cx="40792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What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Is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JavaScript?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15" dirty="0"/>
              <a:t> </a:t>
            </a:r>
            <a:r>
              <a:rPr dirty="0"/>
              <a:t>Brief</a:t>
            </a:r>
            <a:r>
              <a:rPr spc="-15" dirty="0"/>
              <a:t> </a:t>
            </a:r>
            <a:r>
              <a:rPr dirty="0"/>
              <a:t>History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JavaScript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3350"/>
            <a:ext cx="8098790" cy="485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Developed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Brendan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Eich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under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i="1" dirty="0">
                <a:latin typeface="Verdana"/>
                <a:cs typeface="Verdana"/>
              </a:rPr>
              <a:t>Mocha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LiveScript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finally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JavaScript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1995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1.0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Navigator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2.0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(Dec)</a:t>
            </a:r>
            <a:endParaRPr sz="1800">
              <a:latin typeface="Verdana"/>
              <a:cs typeface="Verdana"/>
            </a:endParaRPr>
          </a:p>
          <a:p>
            <a:pPr marL="355600" marR="62865" indent="-342900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1996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1.1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Navigator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3.0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(Aug),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JScript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1.0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Internet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Explorer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3.0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(Aug).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JavaScript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had</a:t>
            </a:r>
            <a:r>
              <a:rPr sz="1800" i="1" spc="-4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no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standards </a:t>
            </a:r>
            <a:r>
              <a:rPr sz="1800" i="1" dirty="0">
                <a:latin typeface="Verdana"/>
                <a:cs typeface="Verdana"/>
              </a:rPr>
              <a:t>governing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its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syntax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or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features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5600" marR="201930" indent="-342900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1997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1.0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(ECMA-262,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based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1.1) </a:t>
            </a:r>
            <a:r>
              <a:rPr sz="1800" dirty="0">
                <a:latin typeface="Verdana"/>
                <a:cs typeface="Verdana"/>
              </a:rPr>
              <a:t>(Jun),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1.2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Navigator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4.0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(Jun),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3.0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Internet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Explorer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4.0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(Sep)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1998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1.3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4.5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(ECMAScript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1.0)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(Oct)</a:t>
            </a:r>
            <a:endParaRPr sz="18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1999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JScript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5.0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Internet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Explorer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5.0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(ECMAScript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1.0)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(Mar),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3.0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(Regular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expressions,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handling,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etc.)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(Dec)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2000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JScript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5.5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Internet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Explorer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5.5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(ECMAScript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3.0)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(Jul),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1.5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Netscape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6.0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(ECMAScript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3.0)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(Nov)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2001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JScript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5.6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Internet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Explorer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6.0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(Aug)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dirty="0">
                <a:latin typeface="Verdana"/>
                <a:cs typeface="Verdana"/>
              </a:rPr>
              <a:t>2005 -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1.6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Firefox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1.5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(Nov)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JavaScript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Implementations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0050" y="3498850"/>
            <a:ext cx="5727700" cy="1993900"/>
            <a:chOff x="1670050" y="3498850"/>
            <a:chExt cx="5727700" cy="1993900"/>
          </a:xfrm>
        </p:grpSpPr>
        <p:sp>
          <p:nvSpPr>
            <p:cNvPr id="4" name="object 4"/>
            <p:cNvSpPr/>
            <p:nvPr/>
          </p:nvSpPr>
          <p:spPr>
            <a:xfrm>
              <a:off x="1676400" y="3505200"/>
              <a:ext cx="5715000" cy="1981200"/>
            </a:xfrm>
            <a:custGeom>
              <a:avLst/>
              <a:gdLst/>
              <a:ahLst/>
              <a:cxnLst/>
              <a:rect l="l" t="t" r="r" b="b"/>
              <a:pathLst>
                <a:path w="5715000" h="1981200">
                  <a:moveTo>
                    <a:pt x="57150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5715000" y="1981200"/>
                  </a:lnTo>
                  <a:lnTo>
                    <a:pt x="5715000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6400" y="3505200"/>
              <a:ext cx="5715000" cy="1981200"/>
            </a:xfrm>
            <a:custGeom>
              <a:avLst/>
              <a:gdLst/>
              <a:ahLst/>
              <a:cxnLst/>
              <a:rect l="l" t="t" r="r" b="b"/>
              <a:pathLst>
                <a:path w="5715000" h="1981200">
                  <a:moveTo>
                    <a:pt x="0" y="1981200"/>
                  </a:moveTo>
                  <a:lnTo>
                    <a:pt x="5715000" y="19812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1981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8001000" cy="2739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complete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implementations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made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up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three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distinct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parts: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(ECMAScript)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Document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(DOM)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Browser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(BOM)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JavaScript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9800" y="4419600"/>
            <a:ext cx="1447800" cy="685800"/>
          </a:xfrm>
          <a:custGeom>
            <a:avLst/>
            <a:gdLst/>
            <a:ahLst/>
            <a:cxnLst/>
            <a:rect l="l" t="t" r="r" b="b"/>
            <a:pathLst>
              <a:path w="1447800" h="685800">
                <a:moveTo>
                  <a:pt x="1447800" y="0"/>
                </a:moveTo>
                <a:lnTo>
                  <a:pt x="0" y="0"/>
                </a:lnTo>
                <a:lnTo>
                  <a:pt x="0" y="685800"/>
                </a:lnTo>
                <a:lnTo>
                  <a:pt x="1447800" y="685800"/>
                </a:lnTo>
                <a:lnTo>
                  <a:pt x="144780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09800" y="4419600"/>
            <a:ext cx="1447800" cy="6858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614"/>
              </a:spcBef>
            </a:pPr>
            <a:r>
              <a:rPr sz="1800" spc="-10" dirty="0">
                <a:latin typeface="Verdana"/>
                <a:cs typeface="Verdana"/>
              </a:rPr>
              <a:t>ECMAScript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3810000" y="4419600"/>
            <a:ext cx="1447800" cy="6858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614"/>
              </a:spcBef>
            </a:pPr>
            <a:r>
              <a:rPr sz="1800" spc="-25" dirty="0">
                <a:latin typeface="Verdana"/>
                <a:cs typeface="Verdana"/>
              </a:rPr>
              <a:t>DOM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0200" y="4419600"/>
            <a:ext cx="1447800" cy="685800"/>
          </a:xfrm>
          <a:prstGeom prst="rect">
            <a:avLst/>
          </a:prstGeom>
          <a:solidFill>
            <a:srgbClr val="99CCFF"/>
          </a:solidFill>
          <a:ln w="12700">
            <a:solidFill>
              <a:srgbClr val="000000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1614"/>
              </a:spcBef>
            </a:pPr>
            <a:r>
              <a:rPr sz="1800" spc="-25" dirty="0">
                <a:latin typeface="Verdana"/>
                <a:cs typeface="Verdana"/>
              </a:rPr>
              <a:t>BOM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ECMAScript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345"/>
            <a:ext cx="7695565" cy="1276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28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ECMAScript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simply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description,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properties,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scripting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language.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3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Syntax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44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Types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2622103"/>
            <a:ext cx="2383790" cy="170243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3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298450" algn="l"/>
              </a:tabLst>
            </a:pPr>
            <a:r>
              <a:rPr sz="2000" spc="-10" dirty="0">
                <a:latin typeface="Verdana"/>
                <a:cs typeface="Verdana"/>
              </a:rPr>
              <a:t>Statements</a:t>
            </a:r>
            <a:endParaRPr sz="20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24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298450" algn="l"/>
              </a:tabLst>
            </a:pPr>
            <a:r>
              <a:rPr sz="2000" spc="-10" dirty="0">
                <a:latin typeface="Verdana"/>
                <a:cs typeface="Verdana"/>
              </a:rPr>
              <a:t>Keywords</a:t>
            </a:r>
            <a:endParaRPr sz="20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24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298450" algn="l"/>
              </a:tabLst>
            </a:pPr>
            <a:r>
              <a:rPr sz="2000" dirty="0">
                <a:latin typeface="Verdana"/>
                <a:cs typeface="Verdana"/>
              </a:rPr>
              <a:t>Reserved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Words</a:t>
            </a:r>
            <a:endParaRPr sz="20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24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298450" algn="l"/>
              </a:tabLst>
            </a:pPr>
            <a:r>
              <a:rPr sz="2000" spc="-10" dirty="0">
                <a:latin typeface="Verdana"/>
                <a:cs typeface="Verdana"/>
              </a:rPr>
              <a:t>Operators</a:t>
            </a:r>
            <a:endParaRPr sz="20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24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298450" algn="l"/>
              </a:tabLst>
            </a:pPr>
            <a:r>
              <a:rPr sz="2000" spc="-10" dirty="0"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4664202"/>
            <a:ext cx="8115934" cy="14897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0" marR="139065" indent="-342900">
              <a:lnSpc>
                <a:spcPts val="2160"/>
              </a:lnSpc>
              <a:spcBef>
                <a:spcPts val="3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1000" algn="l"/>
              </a:tabLst>
            </a:pPr>
            <a:r>
              <a:rPr sz="2000" dirty="0">
                <a:latin typeface="Verdana"/>
                <a:cs typeface="Verdana"/>
              </a:rPr>
              <a:t>Each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browser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own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implementation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ECMAScript </a:t>
            </a:r>
            <a:r>
              <a:rPr sz="2000" dirty="0">
                <a:latin typeface="Verdana"/>
                <a:cs typeface="Verdana"/>
              </a:rPr>
              <a:t>interface,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extended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spc="-20" dirty="0">
                <a:latin typeface="Verdana"/>
                <a:cs typeface="Verdana"/>
              </a:rPr>
              <a:t>BOM.</a:t>
            </a:r>
            <a:endParaRPr sz="2000">
              <a:latin typeface="Verdana"/>
              <a:cs typeface="Verdana"/>
            </a:endParaRPr>
          </a:p>
          <a:p>
            <a:pPr marL="380365" indent="-342265">
              <a:lnSpc>
                <a:spcPts val="2280"/>
              </a:lnSpc>
              <a:spcBef>
                <a:spcPts val="2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sz="2000" dirty="0">
                <a:latin typeface="Verdana"/>
                <a:cs typeface="Verdana"/>
              </a:rPr>
              <a:t>Today,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popular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Web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browsers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comply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1950" baseline="25641" dirty="0">
                <a:latin typeface="Verdana"/>
                <a:cs typeface="Verdana"/>
              </a:rPr>
              <a:t>rd</a:t>
            </a:r>
            <a:r>
              <a:rPr sz="1950" spc="352" baseline="25641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edition</a:t>
            </a:r>
            <a:endParaRPr sz="2000">
              <a:latin typeface="Verdana"/>
              <a:cs typeface="Verdana"/>
            </a:endParaRPr>
          </a:p>
          <a:p>
            <a:pPr marL="3810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of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ECMA-</a:t>
            </a:r>
            <a:r>
              <a:rPr sz="2000" spc="-20" dirty="0">
                <a:latin typeface="Verdana"/>
                <a:cs typeface="Verdana"/>
              </a:rPr>
              <a:t>262.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47105" y="2508250"/>
            <a:ext cx="1326515" cy="393700"/>
            <a:chOff x="5547105" y="2508250"/>
            <a:chExt cx="1326515" cy="393700"/>
          </a:xfrm>
        </p:grpSpPr>
        <p:sp>
          <p:nvSpPr>
            <p:cNvPr id="7" name="object 7"/>
            <p:cNvSpPr/>
            <p:nvPr/>
          </p:nvSpPr>
          <p:spPr>
            <a:xfrm>
              <a:off x="5553455" y="2514600"/>
              <a:ext cx="1313815" cy="381000"/>
            </a:xfrm>
            <a:custGeom>
              <a:avLst/>
              <a:gdLst/>
              <a:ahLst/>
              <a:cxnLst/>
              <a:rect l="l" t="t" r="r" b="b"/>
              <a:pathLst>
                <a:path w="1313815" h="381000">
                  <a:moveTo>
                    <a:pt x="1313561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313561" y="381000"/>
                  </a:lnTo>
                  <a:lnTo>
                    <a:pt x="131356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53455" y="2514600"/>
              <a:ext cx="1313815" cy="381000"/>
            </a:xfrm>
            <a:custGeom>
              <a:avLst/>
              <a:gdLst/>
              <a:ahLst/>
              <a:cxnLst/>
              <a:rect l="l" t="t" r="r" b="b"/>
              <a:pathLst>
                <a:path w="1313815" h="381000">
                  <a:moveTo>
                    <a:pt x="0" y="381000"/>
                  </a:moveTo>
                  <a:lnTo>
                    <a:pt x="1313561" y="381000"/>
                  </a:lnTo>
                  <a:lnTo>
                    <a:pt x="1313561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15178" y="2569591"/>
            <a:ext cx="1195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ECMAScript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53455" y="3733800"/>
            <a:ext cx="1313815" cy="381000"/>
          </a:xfrm>
          <a:custGeom>
            <a:avLst/>
            <a:gdLst/>
            <a:ahLst/>
            <a:cxnLst/>
            <a:rect l="l" t="t" r="r" b="b"/>
            <a:pathLst>
              <a:path w="1313815" h="381000">
                <a:moveTo>
                  <a:pt x="1313561" y="0"/>
                </a:moveTo>
                <a:lnTo>
                  <a:pt x="0" y="0"/>
                </a:lnTo>
                <a:lnTo>
                  <a:pt x="0" y="381000"/>
                </a:lnTo>
                <a:lnTo>
                  <a:pt x="1313561" y="381000"/>
                </a:lnTo>
                <a:lnTo>
                  <a:pt x="131356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53455" y="3733800"/>
            <a:ext cx="1313815" cy="381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530"/>
              </a:spcBef>
            </a:pPr>
            <a:r>
              <a:rPr sz="1600" spc="-10" dirty="0">
                <a:latin typeface="Verdana"/>
                <a:cs typeface="Verdana"/>
              </a:rPr>
              <a:t>JScript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4800" y="3733800"/>
            <a:ext cx="1313815" cy="381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530"/>
              </a:spcBef>
            </a:pPr>
            <a:r>
              <a:rPr sz="1600" spc="-10" dirty="0">
                <a:latin typeface="Verdana"/>
                <a:cs typeface="Verdana"/>
              </a:rPr>
              <a:t>JavaScript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2239" y="3733800"/>
            <a:ext cx="1313815" cy="381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530"/>
              </a:spcBef>
            </a:pPr>
            <a:r>
              <a:rPr sz="1600" spc="-10" dirty="0">
                <a:latin typeface="Verdana"/>
                <a:cs typeface="Verdana"/>
              </a:rPr>
              <a:t>ActionScript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71644" y="2895600"/>
            <a:ext cx="2877820" cy="838200"/>
          </a:xfrm>
          <a:custGeom>
            <a:avLst/>
            <a:gdLst/>
            <a:ahLst/>
            <a:cxnLst/>
            <a:rect l="l" t="t" r="r" b="b"/>
            <a:pathLst>
              <a:path w="2877820" h="838200">
                <a:moveTo>
                  <a:pt x="1438655" y="0"/>
                </a:moveTo>
                <a:lnTo>
                  <a:pt x="1438655" y="838200"/>
                </a:lnTo>
              </a:path>
              <a:path w="2877820" h="838200">
                <a:moveTo>
                  <a:pt x="1438655" y="0"/>
                </a:moveTo>
                <a:lnTo>
                  <a:pt x="0" y="838200"/>
                </a:lnTo>
              </a:path>
              <a:path w="2877820" h="838200">
                <a:moveTo>
                  <a:pt x="1438655" y="0"/>
                </a:moveTo>
                <a:lnTo>
                  <a:pt x="2877311" y="8382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Document</a:t>
            </a:r>
            <a:r>
              <a:rPr spc="-70" dirty="0"/>
              <a:t> </a:t>
            </a:r>
            <a:r>
              <a:rPr dirty="0"/>
              <a:t>Object</a:t>
            </a:r>
            <a:r>
              <a:rPr spc="-25" dirty="0"/>
              <a:t> </a:t>
            </a:r>
            <a:r>
              <a:rPr dirty="0"/>
              <a:t>Model</a:t>
            </a:r>
            <a:r>
              <a:rPr spc="-25" dirty="0"/>
              <a:t> </a:t>
            </a:r>
            <a:r>
              <a:rPr spc="-10" dirty="0"/>
              <a:t>(DOM)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Document</a:t>
            </a:r>
            <a:r>
              <a:rPr spc="-55" dirty="0"/>
              <a:t> </a:t>
            </a:r>
            <a:r>
              <a:rPr dirty="0"/>
              <a:t>Object</a:t>
            </a:r>
            <a:r>
              <a:rPr spc="-30" dirty="0"/>
              <a:t> </a:t>
            </a: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(DOM)</a:t>
            </a:r>
            <a:r>
              <a:rPr spc="-30" dirty="0"/>
              <a:t> </a:t>
            </a:r>
            <a:r>
              <a:rPr dirty="0"/>
              <a:t>describes</a:t>
            </a:r>
            <a:r>
              <a:rPr spc="-40" dirty="0"/>
              <a:t> </a:t>
            </a:r>
            <a:r>
              <a:rPr dirty="0"/>
              <a:t>methods</a:t>
            </a:r>
            <a:r>
              <a:rPr spc="-40" dirty="0"/>
              <a:t> </a:t>
            </a:r>
            <a:r>
              <a:rPr spc="-25" dirty="0"/>
              <a:t>and</a:t>
            </a:r>
          </a:p>
          <a:p>
            <a:pPr marL="355600">
              <a:lnSpc>
                <a:spcPct val="100000"/>
              </a:lnSpc>
            </a:pPr>
            <a:r>
              <a:rPr dirty="0"/>
              <a:t>interfaces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working</a:t>
            </a:r>
            <a:r>
              <a:rPr spc="-3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content</a:t>
            </a:r>
            <a:r>
              <a:rPr spc="-6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spc="-10" dirty="0"/>
              <a:t>page.</a:t>
            </a: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DOM</a:t>
            </a:r>
            <a:r>
              <a:rPr spc="-20" dirty="0"/>
              <a:t> </a:t>
            </a:r>
            <a:r>
              <a:rPr dirty="0"/>
              <a:t>is an</a:t>
            </a:r>
            <a:r>
              <a:rPr spc="-25" dirty="0"/>
              <a:t> </a:t>
            </a:r>
            <a:r>
              <a:rPr spc="-10" dirty="0"/>
              <a:t>tree-</a:t>
            </a:r>
            <a:r>
              <a:rPr dirty="0"/>
              <a:t>based,</a:t>
            </a:r>
            <a:r>
              <a:rPr spc="-20" dirty="0"/>
              <a:t> </a:t>
            </a:r>
            <a:r>
              <a:rPr spc="-10" dirty="0"/>
              <a:t>language-</a:t>
            </a:r>
            <a:r>
              <a:rPr dirty="0"/>
              <a:t>independent</a:t>
            </a:r>
            <a:r>
              <a:rPr spc="-30" dirty="0"/>
              <a:t> </a:t>
            </a:r>
            <a:r>
              <a:rPr dirty="0"/>
              <a:t>API</a:t>
            </a:r>
            <a:r>
              <a:rPr spc="-25" dirty="0"/>
              <a:t> for </a:t>
            </a:r>
            <a:r>
              <a:rPr dirty="0"/>
              <a:t>HTML</a:t>
            </a:r>
            <a:r>
              <a:rPr spc="-20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well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XML.</a:t>
            </a:r>
            <a:r>
              <a:rPr spc="-25" dirty="0"/>
              <a:t> </a:t>
            </a:r>
            <a:r>
              <a:rPr dirty="0"/>
              <a:t>(cf.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SAX</a:t>
            </a:r>
            <a:r>
              <a:rPr spc="-25" dirty="0"/>
              <a:t> </a:t>
            </a:r>
            <a:r>
              <a:rPr dirty="0"/>
              <a:t>provides</a:t>
            </a:r>
            <a:r>
              <a:rPr spc="-1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event-based </a:t>
            </a:r>
            <a:r>
              <a:rPr dirty="0"/>
              <a:t>API</a:t>
            </a:r>
            <a:r>
              <a:rPr spc="-3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parse</a:t>
            </a:r>
            <a:r>
              <a:rPr spc="-30" dirty="0"/>
              <a:t> </a:t>
            </a:r>
            <a:r>
              <a:rPr spc="-10" dirty="0"/>
              <a:t>XML.)</a:t>
            </a: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W3C</a:t>
            </a:r>
            <a:r>
              <a:rPr spc="-50" dirty="0"/>
              <a:t> </a:t>
            </a:r>
            <a:r>
              <a:rPr dirty="0"/>
              <a:t>DOM</a:t>
            </a:r>
            <a:r>
              <a:rPr spc="-40" dirty="0"/>
              <a:t> </a:t>
            </a:r>
            <a:r>
              <a:rPr dirty="0"/>
              <a:t>specifications:</a:t>
            </a:r>
            <a:r>
              <a:rPr spc="-55" dirty="0"/>
              <a:t> </a:t>
            </a:r>
            <a:r>
              <a:rPr dirty="0"/>
              <a:t>Level1,</a:t>
            </a:r>
            <a:r>
              <a:rPr spc="-40" dirty="0"/>
              <a:t> </a:t>
            </a:r>
            <a:r>
              <a:rPr dirty="0"/>
              <a:t>Level2,</a:t>
            </a:r>
            <a:r>
              <a:rPr spc="-25" dirty="0"/>
              <a:t> </a:t>
            </a:r>
            <a:r>
              <a:rPr spc="-10" dirty="0"/>
              <a:t>Level3</a:t>
            </a:r>
          </a:p>
          <a:p>
            <a:pPr marL="355600" marR="2540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dirty="0"/>
              <a:t>The</a:t>
            </a:r>
            <a:r>
              <a:rPr spc="-35" dirty="0"/>
              <a:t> </a:t>
            </a:r>
            <a:r>
              <a:rPr i="1" dirty="0">
                <a:latin typeface="Verdana"/>
                <a:cs typeface="Verdana"/>
              </a:rPr>
              <a:t>document</a:t>
            </a:r>
            <a:r>
              <a:rPr i="1" spc="-60" dirty="0">
                <a:latin typeface="Verdana"/>
                <a:cs typeface="Verdana"/>
              </a:rPr>
              <a:t> </a:t>
            </a:r>
            <a:r>
              <a:rPr dirty="0"/>
              <a:t>object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only</a:t>
            </a:r>
            <a:r>
              <a:rPr spc="-30" dirty="0"/>
              <a:t> </a:t>
            </a:r>
            <a:r>
              <a:rPr dirty="0"/>
              <a:t>object</a:t>
            </a:r>
            <a:r>
              <a:rPr spc="-3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belongs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20" dirty="0"/>
              <a:t>both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DOM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BOM.</a:t>
            </a:r>
          </a:p>
          <a:p>
            <a:pPr marL="755015" marR="143510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spc="-10" dirty="0">
                <a:latin typeface="Verdana"/>
                <a:cs typeface="Verdana"/>
              </a:rPr>
              <a:t>getElementsByTagName(),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getElementsByName(), 	getElementById()</a:t>
            </a:r>
            <a:endParaRPr sz="1800">
              <a:latin typeface="Verdana"/>
              <a:cs typeface="Verdana"/>
            </a:endParaRPr>
          </a:p>
          <a:p>
            <a:pPr marL="355600" marR="967105" indent="-342900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dirty="0"/>
              <a:t>All</a:t>
            </a:r>
            <a:r>
              <a:rPr spc="-30" dirty="0"/>
              <a:t> </a:t>
            </a:r>
            <a:r>
              <a:rPr dirty="0"/>
              <a:t>attributes</a:t>
            </a:r>
            <a:r>
              <a:rPr spc="-6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included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HTML</a:t>
            </a:r>
            <a:r>
              <a:rPr spc="-30" dirty="0"/>
              <a:t> </a:t>
            </a:r>
            <a:r>
              <a:rPr dirty="0"/>
              <a:t>DOM</a:t>
            </a:r>
            <a:r>
              <a:rPr spc="-45" dirty="0"/>
              <a:t> </a:t>
            </a:r>
            <a:r>
              <a:rPr dirty="0"/>
              <a:t>elements</a:t>
            </a:r>
            <a:r>
              <a:rPr spc="-25" dirty="0"/>
              <a:t> as </a:t>
            </a:r>
            <a:r>
              <a:rPr spc="-10" dirty="0"/>
              <a:t>properties.</a:t>
            </a: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oImg.src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mypicture.jpg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oDiv.className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footer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cf.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Verdana"/>
                <a:cs typeface="Verdana"/>
              </a:rPr>
              <a:t>className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Browser</a:t>
            </a:r>
            <a:r>
              <a:rPr spc="-45" dirty="0"/>
              <a:t> </a:t>
            </a:r>
            <a:r>
              <a:rPr dirty="0"/>
              <a:t>Object</a:t>
            </a:r>
            <a:r>
              <a:rPr spc="-15" dirty="0"/>
              <a:t> </a:t>
            </a:r>
            <a:r>
              <a:rPr dirty="0"/>
              <a:t>Model</a:t>
            </a:r>
            <a:r>
              <a:rPr spc="-15" dirty="0"/>
              <a:t> </a:t>
            </a:r>
            <a:r>
              <a:rPr spc="-10" dirty="0"/>
              <a:t>(BOM)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Browser</a:t>
            </a:r>
            <a:r>
              <a:rPr spc="-60" dirty="0"/>
              <a:t> </a:t>
            </a:r>
            <a:r>
              <a:rPr dirty="0"/>
              <a:t>Object</a:t>
            </a:r>
            <a:r>
              <a:rPr spc="-45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dirty="0"/>
              <a:t>(BOM)</a:t>
            </a:r>
            <a:r>
              <a:rPr spc="-30" dirty="0"/>
              <a:t> </a:t>
            </a:r>
            <a:r>
              <a:rPr dirty="0"/>
              <a:t>describes</a:t>
            </a:r>
            <a:r>
              <a:rPr spc="-45" dirty="0"/>
              <a:t> </a:t>
            </a:r>
            <a:r>
              <a:rPr dirty="0"/>
              <a:t>methods</a:t>
            </a:r>
            <a:r>
              <a:rPr spc="-55" dirty="0"/>
              <a:t> </a:t>
            </a:r>
            <a:r>
              <a:rPr spc="-25" dirty="0"/>
              <a:t>and</a:t>
            </a:r>
          </a:p>
          <a:p>
            <a:pPr marL="355600">
              <a:lnSpc>
                <a:spcPct val="100000"/>
              </a:lnSpc>
            </a:pPr>
            <a:r>
              <a:rPr dirty="0"/>
              <a:t>interfaces</a:t>
            </a:r>
            <a:r>
              <a:rPr spc="-7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interacting</a:t>
            </a:r>
            <a:r>
              <a:rPr spc="-4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browser.</a:t>
            </a:r>
          </a:p>
          <a:p>
            <a:pPr marL="355600" marR="145415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dirty="0"/>
              <a:t>Because</a:t>
            </a:r>
            <a:r>
              <a:rPr spc="-45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dirty="0"/>
              <a:t>standards</a:t>
            </a:r>
            <a:r>
              <a:rPr spc="-50" dirty="0"/>
              <a:t> </a:t>
            </a:r>
            <a:r>
              <a:rPr dirty="0"/>
              <a:t>exist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BOM,</a:t>
            </a:r>
            <a:r>
              <a:rPr spc="-25" dirty="0"/>
              <a:t> </a:t>
            </a:r>
            <a:r>
              <a:rPr dirty="0"/>
              <a:t>each</a:t>
            </a:r>
            <a:r>
              <a:rPr spc="-35" dirty="0"/>
              <a:t> </a:t>
            </a:r>
            <a:r>
              <a:rPr dirty="0"/>
              <a:t>browser</a:t>
            </a:r>
            <a:r>
              <a:rPr spc="-40" dirty="0"/>
              <a:t> </a:t>
            </a:r>
            <a:r>
              <a:rPr spc="-25" dirty="0"/>
              <a:t>has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own</a:t>
            </a:r>
            <a:r>
              <a:rPr spc="-25" dirty="0"/>
              <a:t> </a:t>
            </a:r>
            <a:r>
              <a:rPr spc="-10" dirty="0"/>
              <a:t>implementations.</a:t>
            </a: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i="1" dirty="0">
                <a:latin typeface="Verdana"/>
                <a:cs typeface="Verdana"/>
              </a:rPr>
              <a:t>window</a:t>
            </a:r>
            <a:r>
              <a:rPr i="1" spc="-40" dirty="0">
                <a:latin typeface="Verdana"/>
                <a:cs typeface="Verdana"/>
              </a:rPr>
              <a:t> </a:t>
            </a:r>
            <a:r>
              <a:rPr dirty="0"/>
              <a:t>object</a:t>
            </a:r>
            <a:r>
              <a:rPr spc="-25" dirty="0"/>
              <a:t> </a:t>
            </a:r>
            <a:r>
              <a:rPr dirty="0"/>
              <a:t>represents</a:t>
            </a:r>
            <a:r>
              <a:rPr spc="-5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entire</a:t>
            </a:r>
            <a:r>
              <a:rPr spc="-30" dirty="0"/>
              <a:t> </a:t>
            </a:r>
            <a:r>
              <a:rPr dirty="0"/>
              <a:t>browser</a:t>
            </a:r>
            <a:r>
              <a:rPr spc="-40" dirty="0"/>
              <a:t> </a:t>
            </a:r>
            <a:r>
              <a:rPr spc="-10" dirty="0"/>
              <a:t>window.</a:t>
            </a: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document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anchors,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forms,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images,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links,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location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frames,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history,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location,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navigator,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screen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7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methods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moveBy(),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moveTo(),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resizeBy(),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resizeTo(),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open(),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close(),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alert(),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confirm(),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input()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setTimeOut(),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clearTimeOut(),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setInterval(),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clearInterval()</a:t>
            </a:r>
            <a:endParaRPr sz="1800">
              <a:latin typeface="Verdana"/>
              <a:cs typeface="Verdana"/>
            </a:endParaRPr>
          </a:p>
          <a:p>
            <a:pPr marL="844550" lvl="1" indent="-374650">
              <a:lnSpc>
                <a:spcPct val="100000"/>
              </a:lnSpc>
              <a:spcBef>
                <a:spcPts val="47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844550" algn="l"/>
              </a:tabLst>
            </a:pPr>
            <a:r>
              <a:rPr sz="2000" spc="-10" dirty="0">
                <a:latin typeface="Verdana"/>
                <a:cs typeface="Verdana"/>
              </a:rPr>
              <a:t>properties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screenX,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screenY,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status,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defaultStatus,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JavaScript</a:t>
            </a:r>
            <a:r>
              <a:rPr spc="-65" dirty="0"/>
              <a:t> </a:t>
            </a:r>
            <a:r>
              <a:rPr spc="-25" dirty="0"/>
              <a:t>is</a:t>
            </a:r>
            <a:r>
              <a:rPr spc="-25" dirty="0">
                <a:latin typeface="Century Gothic"/>
                <a:cs typeface="Century Gothic"/>
              </a:rPr>
              <a:t>…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369821"/>
            <a:ext cx="8020684" cy="4723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29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world</a:t>
            </a:r>
            <a:r>
              <a:rPr sz="2000" spc="-165" dirty="0">
                <a:latin typeface="Century Gothic"/>
                <a:cs typeface="Century Gothic"/>
              </a:rPr>
              <a:t>‟</a:t>
            </a:r>
            <a:r>
              <a:rPr sz="2000" spc="-165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popular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programming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90"/>
              </a:lnSpc>
            </a:pPr>
            <a:r>
              <a:rPr sz="2000" spc="-10" dirty="0">
                <a:latin typeface="Verdana"/>
                <a:cs typeface="Verdana"/>
              </a:rPr>
              <a:t>languages.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3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interpreted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Java.</a:t>
            </a:r>
            <a:endParaRPr sz="2000">
              <a:latin typeface="Verdana"/>
              <a:cs typeface="Verdana"/>
            </a:endParaRPr>
          </a:p>
          <a:p>
            <a:pPr marL="355600" marR="341630" indent="-342900">
              <a:lnSpc>
                <a:spcPts val="2160"/>
              </a:lnSpc>
              <a:spcBef>
                <a:spcPts val="5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functional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language </a:t>
            </a:r>
            <a:r>
              <a:rPr sz="2000" dirty="0">
                <a:latin typeface="Verdana"/>
                <a:cs typeface="Verdana"/>
              </a:rPr>
              <a:t>like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Lisp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Scheme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ts val="2280"/>
              </a:lnSpc>
              <a:spcBef>
                <a:spcPts val="2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suited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non-</a:t>
            </a:r>
            <a:r>
              <a:rPr sz="2000" spc="-10" dirty="0">
                <a:latin typeface="Verdana"/>
                <a:cs typeface="Verdana"/>
              </a:rPr>
              <a:t>Web-related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spc="-10" dirty="0">
                <a:latin typeface="Verdana"/>
                <a:cs typeface="Verdana"/>
              </a:rPr>
              <a:t>applications.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errors?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language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perfect.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ts val="228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Lousy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implementations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were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embedded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horribly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buggy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web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browsers.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Nearly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books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about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awful.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Many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people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writing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programmers.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now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complete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object-</a:t>
            </a:r>
            <a:r>
              <a:rPr sz="2000" dirty="0">
                <a:latin typeface="Verdana"/>
                <a:cs typeface="Verdana"/>
              </a:rPr>
              <a:t>oriented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language.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ts val="228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class-</a:t>
            </a:r>
            <a:r>
              <a:rPr sz="2000" dirty="0">
                <a:latin typeface="Verdana"/>
                <a:cs typeface="Verdana"/>
              </a:rPr>
              <a:t>oriented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inheritance,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does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prototype-</a:t>
            </a:r>
            <a:r>
              <a:rPr sz="2000" dirty="0">
                <a:latin typeface="Verdana"/>
                <a:cs typeface="Verdana"/>
              </a:rPr>
              <a:t>oriented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inheritance.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31557" y="180847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What</a:t>
            </a:r>
            <a:r>
              <a:rPr sz="1200" b="1" i="1" spc="-1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is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7033" y="2429967"/>
            <a:ext cx="35413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6450" marR="5080" indent="-7943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JavaScript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Basics (ECMAScript)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Syntax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484109" cy="4399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borrows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syntax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but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inherits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Awk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Perl,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some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inherits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influence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Self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concepts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JavaScript: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Everything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case-sensitive.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Variables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loosely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typed.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var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keyword.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9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Variables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04" dirty="0">
                <a:latin typeface="Verdana"/>
                <a:cs typeface="Verdana"/>
              </a:rPr>
              <a:t>don</a:t>
            </a:r>
            <a:r>
              <a:rPr sz="1800" spc="-204" dirty="0">
                <a:latin typeface="Century Gothic"/>
                <a:cs typeface="Century Gothic"/>
              </a:rPr>
              <a:t>‟</a:t>
            </a:r>
            <a:r>
              <a:rPr sz="1800" spc="-204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declared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before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used.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5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End-of-</a:t>
            </a:r>
            <a:r>
              <a:rPr sz="1800" dirty="0">
                <a:latin typeface="Verdana"/>
                <a:cs typeface="Verdana"/>
              </a:rPr>
              <a:t>line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semicolons are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optional.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test1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red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test2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blue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//do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avoid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confusion.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5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Comments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Perl.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Braces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indicate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code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blocks.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Keywords</a:t>
            </a:r>
            <a:r>
              <a:rPr spc="-7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Reserved</a:t>
            </a:r>
            <a:r>
              <a:rPr spc="-60" dirty="0"/>
              <a:t> </a:t>
            </a:r>
            <a:r>
              <a:rPr spc="-10" dirty="0"/>
              <a:t>Words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100695" cy="466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keywords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reserved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cannot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as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names.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Keywords</a:t>
            </a:r>
            <a:endParaRPr sz="2000">
              <a:latin typeface="Verdana"/>
              <a:cs typeface="Verdana"/>
            </a:endParaRPr>
          </a:p>
          <a:p>
            <a:pPr marL="756285" marR="4476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Verdana"/>
                <a:cs typeface="Verdana"/>
              </a:rPr>
              <a:t>break,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case,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catch,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continue,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default,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delete,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else, </a:t>
            </a:r>
            <a:r>
              <a:rPr sz="2000" dirty="0">
                <a:latin typeface="Verdana"/>
                <a:cs typeface="Verdana"/>
              </a:rPr>
              <a:t>finally,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instanceof,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new,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return, </a:t>
            </a:r>
            <a:r>
              <a:rPr sz="2000" dirty="0">
                <a:latin typeface="Verdana"/>
                <a:cs typeface="Verdana"/>
              </a:rPr>
              <a:t>switch,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throw,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try,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typeof,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void,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while,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with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Reserved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Words</a:t>
            </a:r>
            <a:endParaRPr sz="2000">
              <a:latin typeface="Verdana"/>
              <a:cs typeface="Verdana"/>
            </a:endParaRPr>
          </a:p>
          <a:p>
            <a:pPr marL="756285" marR="50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Verdana"/>
                <a:cs typeface="Verdana"/>
              </a:rPr>
              <a:t>abstract,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boolean,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byte,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debugger, </a:t>
            </a:r>
            <a:r>
              <a:rPr sz="2000" dirty="0">
                <a:latin typeface="Verdana"/>
                <a:cs typeface="Verdana"/>
              </a:rPr>
              <a:t>double,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enum,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export,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extends,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final,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float,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goto, </a:t>
            </a:r>
            <a:r>
              <a:rPr sz="2000" dirty="0">
                <a:latin typeface="Verdana"/>
                <a:cs typeface="Verdana"/>
              </a:rPr>
              <a:t>implements,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import,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interface,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long,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native,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package, </a:t>
            </a:r>
            <a:r>
              <a:rPr sz="2000" dirty="0">
                <a:latin typeface="Verdana"/>
                <a:cs typeface="Verdana"/>
              </a:rPr>
              <a:t>private,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protected,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public,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short,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static,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super, </a:t>
            </a:r>
            <a:r>
              <a:rPr sz="2000" dirty="0">
                <a:latin typeface="Verdana"/>
                <a:cs typeface="Verdana"/>
              </a:rPr>
              <a:t>synchronized,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throws,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transient,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volatile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Primitive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Reference</a:t>
            </a:r>
            <a:r>
              <a:rPr spc="-20" dirty="0"/>
              <a:t> </a:t>
            </a:r>
            <a:r>
              <a:rPr spc="-10" dirty="0"/>
              <a:t>Values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8037195" cy="43459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Primitive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Primitive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simple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pieces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stack</a:t>
            </a:r>
            <a:r>
              <a:rPr sz="1800" spc="-1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their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directly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location 	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variable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accesses.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primitive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types: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i="1" dirty="0">
                <a:latin typeface="Verdana"/>
                <a:cs typeface="Verdana"/>
              </a:rPr>
              <a:t>Undefined,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Null,</a:t>
            </a:r>
            <a:r>
              <a:rPr sz="1800" i="1" spc="-4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Boolean,</a:t>
            </a:r>
            <a:r>
              <a:rPr sz="1800" i="1" spc="-6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Number,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String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015" marR="3937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Many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languages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consider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reference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 	</a:t>
            </a:r>
            <a:r>
              <a:rPr sz="1800" dirty="0">
                <a:latin typeface="Verdana"/>
                <a:cs typeface="Verdana"/>
              </a:rPr>
              <a:t>primitive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breaks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tradition.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Reference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Reference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heap</a:t>
            </a:r>
            <a:r>
              <a:rPr sz="1800" spc="-1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meaning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variable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location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pointer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location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memory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where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stored.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Primitive</a:t>
            </a:r>
            <a:r>
              <a:rPr spc="-20" dirty="0"/>
              <a:t> </a:t>
            </a:r>
            <a:r>
              <a:rPr spc="-10" dirty="0"/>
              <a:t>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1434"/>
            <a:ext cx="7036434" cy="44538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primitive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types: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Undefined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Undefined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undefined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20" dirty="0">
                <a:latin typeface="Verdana"/>
                <a:cs typeface="Verdana"/>
              </a:rPr>
              <a:t>Null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Null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null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3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Boolean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true</a:t>
            </a:r>
            <a:r>
              <a:rPr sz="1800" i="1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false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spc="-20" dirty="0">
                <a:latin typeface="Verdana"/>
                <a:cs typeface="Verdana"/>
              </a:rPr>
              <a:t>32-</a:t>
            </a:r>
            <a:r>
              <a:rPr sz="1800" dirty="0">
                <a:latin typeface="Verdana"/>
                <a:cs typeface="Verdana"/>
              </a:rPr>
              <a:t>bit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integer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64-</a:t>
            </a:r>
            <a:r>
              <a:rPr sz="1800" dirty="0">
                <a:latin typeface="Verdana"/>
                <a:cs typeface="Verdana"/>
              </a:rPr>
              <a:t>bit</a:t>
            </a:r>
            <a:r>
              <a:rPr sz="1800" spc="-10" dirty="0">
                <a:latin typeface="Verdana"/>
                <a:cs typeface="Verdana"/>
              </a:rPr>
              <a:t> floating-</a:t>
            </a:r>
            <a:r>
              <a:rPr sz="1800" dirty="0">
                <a:latin typeface="Verdana"/>
                <a:cs typeface="Verdana"/>
              </a:rPr>
              <a:t>point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values.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18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Infinity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Verdana"/>
                <a:cs typeface="Verdana"/>
              </a:rPr>
              <a:t>isFinite()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NaN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(Not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Verdana"/>
                <a:cs typeface="Verdana"/>
              </a:rPr>
              <a:t>isNaN()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String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0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either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double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quotes(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single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quote(</a:t>
            </a:r>
            <a:r>
              <a:rPr sz="1800" spc="-10" dirty="0">
                <a:latin typeface="Century Gothic"/>
                <a:cs typeface="Century Gothic"/>
              </a:rPr>
              <a:t>‟</a:t>
            </a:r>
            <a:r>
              <a:rPr sz="1800" spc="-10" dirty="0">
                <a:latin typeface="Verdana"/>
                <a:cs typeface="Verdana"/>
              </a:rPr>
              <a:t>).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4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type.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typeof</a:t>
            </a:r>
            <a:r>
              <a:rPr spc="-50" dirty="0"/>
              <a:t> </a:t>
            </a:r>
            <a:r>
              <a:rPr spc="-10" dirty="0"/>
              <a:t>Operator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3907790" cy="437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determine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</a:t>
            </a:r>
            <a:r>
              <a:rPr sz="2000" spc="-35" dirty="0">
                <a:latin typeface="Verdana"/>
                <a:cs typeface="Verdana"/>
              </a:rPr>
              <a:t> is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range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JavaScript </a:t>
            </a:r>
            <a:r>
              <a:rPr sz="2000" dirty="0">
                <a:latin typeface="Verdana"/>
                <a:cs typeface="Verdana"/>
              </a:rPr>
              <a:t>provides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typeof </a:t>
            </a:r>
            <a:r>
              <a:rPr sz="2000" spc="-10" dirty="0">
                <a:latin typeface="Verdana"/>
                <a:cs typeface="Verdana"/>
              </a:rPr>
              <a:t>operator.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L="355600" marR="48895" indent="-342900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Why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typeof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operator </a:t>
            </a:r>
            <a:r>
              <a:rPr sz="2000" dirty="0">
                <a:latin typeface="Verdana"/>
                <a:cs typeface="Verdana"/>
              </a:rPr>
              <a:t>returns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“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dirty="0">
                <a:latin typeface="Century Gothic"/>
                <a:cs typeface="Century Gothic"/>
              </a:rPr>
              <a:t>”</a:t>
            </a:r>
            <a:r>
              <a:rPr sz="2000" spc="1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value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null.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original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implementation.</a:t>
            </a:r>
            <a:endParaRPr sz="1800">
              <a:latin typeface="Verdana"/>
              <a:cs typeface="Verdana"/>
            </a:endParaRPr>
          </a:p>
          <a:p>
            <a:pPr marL="755015" marR="194945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Today,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rationalized 	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null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considered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 	</a:t>
            </a:r>
            <a:r>
              <a:rPr sz="1800" dirty="0">
                <a:latin typeface="Verdana"/>
                <a:cs typeface="Verdana"/>
              </a:rPr>
              <a:t>placeholder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33912" y="1357312"/>
          <a:ext cx="3886200" cy="4792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Value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typeof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Boolean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boolean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Number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number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String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string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Undefined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undefined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20" dirty="0">
                          <a:latin typeface="Verdana"/>
                          <a:cs typeface="Verdana"/>
                        </a:rPr>
                        <a:t>Null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object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Object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object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Array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object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Function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function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Conversions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738745" cy="48177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Converting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String</a:t>
            </a:r>
            <a:endParaRPr sz="20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Primitive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numbers,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pseudo- 	</a:t>
            </a:r>
            <a:r>
              <a:rPr sz="1800" i="1" dirty="0">
                <a:latin typeface="Verdana"/>
                <a:cs typeface="Verdana"/>
              </a:rPr>
              <a:t>objects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means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actually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have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and 	</a:t>
            </a:r>
            <a:r>
              <a:rPr sz="1800" spc="-10" dirty="0">
                <a:latin typeface="Verdana"/>
                <a:cs typeface="Verdana"/>
              </a:rPr>
              <a:t>methods.</a:t>
            </a:r>
            <a:endParaRPr sz="1800">
              <a:latin typeface="Verdana"/>
              <a:cs typeface="Verdana"/>
            </a:endParaRPr>
          </a:p>
          <a:p>
            <a:pPr marL="755015" marR="2185035" lvl="1" indent="-285750">
              <a:lnSpc>
                <a:spcPct val="100000"/>
              </a:lnSpc>
              <a:spcBef>
                <a:spcPts val="18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blue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.length);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4</a:t>
            </a:r>
            <a:r>
              <a:rPr sz="1800" spc="-25" dirty="0">
                <a:latin typeface="Century Gothic"/>
                <a:cs typeface="Century Gothic"/>
              </a:rPr>
              <a:t>” 	</a:t>
            </a:r>
            <a:r>
              <a:rPr sz="1800" dirty="0">
                <a:latin typeface="Verdana"/>
                <a:cs typeface="Verdana"/>
              </a:rPr>
              <a:t>alert((false).toString());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false</a:t>
            </a:r>
            <a:r>
              <a:rPr sz="1800" spc="-10" dirty="0">
                <a:latin typeface="Century Gothic"/>
                <a:cs typeface="Century Gothic"/>
              </a:rPr>
              <a:t>” 	</a:t>
            </a:r>
            <a:r>
              <a:rPr sz="1800" dirty="0">
                <a:latin typeface="Verdana"/>
                <a:cs typeface="Verdana"/>
              </a:rPr>
              <a:t>alert((10).toString(2));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1010</a:t>
            </a:r>
            <a:r>
              <a:rPr sz="1800" spc="-10" dirty="0">
                <a:latin typeface="Century Gothic"/>
                <a:cs typeface="Century Gothic"/>
              </a:rPr>
              <a:t>” 	</a:t>
            </a:r>
            <a:r>
              <a:rPr sz="1800" dirty="0">
                <a:latin typeface="Verdana"/>
                <a:cs typeface="Verdana"/>
              </a:rPr>
              <a:t>alert((10).toString(16));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A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9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Converting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marL="755015" marR="95885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provide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converting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non-</a:t>
            </a:r>
            <a:r>
              <a:rPr sz="1800" spc="-10" dirty="0">
                <a:latin typeface="Verdana"/>
                <a:cs typeface="Verdana"/>
              </a:rPr>
              <a:t>number 	</a:t>
            </a:r>
            <a:r>
              <a:rPr sz="1800" dirty="0">
                <a:latin typeface="Verdana"/>
                <a:cs typeface="Verdana"/>
              </a:rPr>
              <a:t>primitives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numbers: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parseInt()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parseFloat().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18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num1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parseInt(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0xA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10</a:t>
            </a:r>
            <a:endParaRPr sz="1800">
              <a:latin typeface="Verdana"/>
              <a:cs typeface="Verdana"/>
            </a:endParaRPr>
          </a:p>
          <a:p>
            <a:pPr marL="756285" marR="161544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num2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parseFloat(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4.5.6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4.5 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num3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parseInt(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blue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returns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NaN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</a:t>
            </a:r>
            <a:r>
              <a:rPr spc="-70" dirty="0"/>
              <a:t> </a:t>
            </a:r>
            <a:r>
              <a:rPr spc="-10" dirty="0"/>
              <a:t>Casting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4807"/>
            <a:ext cx="6593840" cy="47745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Boolean(value)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Boolean(</a:t>
            </a:r>
            <a:r>
              <a:rPr sz="1800" dirty="0">
                <a:latin typeface="Century Gothic"/>
                <a:cs typeface="Century Gothic"/>
              </a:rPr>
              <a:t>“”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false;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hi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Verdana"/>
                <a:cs typeface="Verdana"/>
              </a:rPr>
              <a:t>true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Boolean(0)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flase;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Boolean(100)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Verdana"/>
                <a:cs typeface="Verdana"/>
              </a:rPr>
              <a:t>true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Boolean(null)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false;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Boolean(undefined)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Verdana"/>
                <a:cs typeface="Verdana"/>
              </a:rPr>
              <a:t>false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Boolean(new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Object())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Verdana"/>
                <a:cs typeface="Verdana"/>
              </a:rPr>
              <a:t>true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Number(value)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Number(false)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0;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Number(true)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Number(null)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0;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Number(undefined)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Verdana"/>
                <a:cs typeface="Verdana"/>
              </a:rPr>
              <a:t>NaN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Number(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4.5.6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NaN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(cf.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parseFloat())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Number(new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Object())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Verdana"/>
                <a:cs typeface="Verdana"/>
              </a:rPr>
              <a:t>NaN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String(value)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String(null)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null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String(undefined)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undefined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  <a:r>
              <a:rPr spc="-10" dirty="0"/>
              <a:t> 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056245" cy="4704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Reference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commonly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referred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classes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which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say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reference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25" dirty="0">
                <a:latin typeface="Verdana"/>
                <a:cs typeface="Verdana"/>
              </a:rPr>
              <a:t> are </a:t>
            </a:r>
            <a:r>
              <a:rPr sz="2000" dirty="0">
                <a:latin typeface="Verdana"/>
                <a:cs typeface="Verdana"/>
              </a:rPr>
              <a:t>dealing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342265" marR="488950" indent="-342265" algn="r">
              <a:lnSpc>
                <a:spcPct val="100000"/>
              </a:lnSpc>
              <a:spcBef>
                <a:spcPts val="19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42265" algn="l"/>
              </a:tabLst>
            </a:pPr>
            <a:r>
              <a:rPr sz="2000" dirty="0">
                <a:latin typeface="Verdana"/>
                <a:cs typeface="Verdana"/>
              </a:rPr>
              <a:t>ECMAScript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“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definitions</a:t>
            </a:r>
            <a:r>
              <a:rPr sz="2000" dirty="0">
                <a:latin typeface="Century Gothic"/>
                <a:cs typeface="Century Gothic"/>
              </a:rPr>
              <a:t>”</a:t>
            </a:r>
            <a:r>
              <a:rPr sz="2000" spc="9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logically</a:t>
            </a:r>
            <a:endParaRPr sz="2000">
              <a:latin typeface="Verdana"/>
              <a:cs typeface="Verdana"/>
            </a:endParaRPr>
          </a:p>
          <a:p>
            <a:pPr marR="412750" algn="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equivalent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“</a:t>
            </a:r>
            <a:r>
              <a:rPr sz="2000" dirty="0">
                <a:latin typeface="Verdana"/>
                <a:cs typeface="Verdana"/>
              </a:rPr>
              <a:t>classes</a:t>
            </a:r>
            <a:r>
              <a:rPr sz="2000" dirty="0">
                <a:latin typeface="Century Gothic"/>
                <a:cs typeface="Century Gothic"/>
              </a:rPr>
              <a:t>”</a:t>
            </a:r>
            <a:r>
              <a:rPr sz="2000" spc="8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languages.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new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operator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10" dirty="0">
                <a:latin typeface="Verdana"/>
                <a:cs typeface="Verdana"/>
              </a:rPr>
              <a:t> Object;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Object();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//do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avoid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confusion.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instanceof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operator</a:t>
            </a:r>
            <a:endParaRPr sz="2000">
              <a:latin typeface="Verdana"/>
              <a:cs typeface="Verdana"/>
            </a:endParaRPr>
          </a:p>
          <a:p>
            <a:pPr marL="755015" marR="361315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instanceof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operator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identifies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are 	</a:t>
            </a:r>
            <a:r>
              <a:rPr sz="1800" dirty="0">
                <a:latin typeface="Verdana"/>
                <a:cs typeface="Verdana"/>
              </a:rPr>
              <a:t>working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with.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aStringObject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Hello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(aStringObject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instanceof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String);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true.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Object</a:t>
            </a:r>
            <a:r>
              <a:rPr spc="-70" dirty="0"/>
              <a:t> </a:t>
            </a:r>
            <a:r>
              <a:rPr spc="-10" dirty="0"/>
              <a:t>Class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938770" cy="489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similar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java.lang.Object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Java.</a:t>
            </a:r>
            <a:endParaRPr sz="2000">
              <a:latin typeface="Verdana"/>
              <a:cs typeface="Verdana"/>
            </a:endParaRPr>
          </a:p>
          <a:p>
            <a:pPr marL="355600" marR="1034415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Each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designed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overridden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015" marR="173355" lvl="1" indent="-285750">
              <a:lnSpc>
                <a:spcPct val="101099"/>
              </a:lnSpc>
              <a:spcBef>
                <a:spcPts val="39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constructor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0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reference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(pointer)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that 	</a:t>
            </a:r>
            <a:r>
              <a:rPr sz="1800" dirty="0">
                <a:latin typeface="Verdana"/>
                <a:cs typeface="Verdana"/>
              </a:rPr>
              <a:t>created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  <a:p>
            <a:pPr marL="755015" marR="133350" lvl="1" indent="-285750">
              <a:lnSpc>
                <a:spcPct val="101099"/>
              </a:lnSpc>
              <a:spcBef>
                <a:spcPts val="38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0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reference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this 	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hasOwnProperty(property)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isPrototypeOf(object)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propertyIsEnumerable(property)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toString()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valueOf()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Primitive</a:t>
            </a:r>
            <a:r>
              <a:rPr spc="-45" dirty="0"/>
              <a:t> </a:t>
            </a:r>
            <a:r>
              <a:rPr spc="-25" dirty="0"/>
              <a:t>Type-</a:t>
            </a:r>
            <a:r>
              <a:rPr dirty="0"/>
              <a:t>related</a:t>
            </a:r>
            <a:r>
              <a:rPr spc="-10" dirty="0"/>
              <a:t> Classes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0865"/>
            <a:ext cx="8042275" cy="4978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395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Boolean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Class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155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254" dirty="0">
                <a:latin typeface="Verdana"/>
                <a:cs typeface="Verdana"/>
              </a:rPr>
              <a:t>It</a:t>
            </a:r>
            <a:r>
              <a:rPr sz="1800" spc="-254" dirty="0">
                <a:latin typeface="Century Gothic"/>
                <a:cs typeface="Century Gothic"/>
              </a:rPr>
              <a:t>‟</a:t>
            </a:r>
            <a:r>
              <a:rPr sz="1800" spc="-254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best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primitives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instead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(new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Boolean(false))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&amp;&amp;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true;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true;</a:t>
            </a:r>
            <a:endParaRPr sz="1800">
              <a:latin typeface="Verdana"/>
              <a:cs typeface="Verdana"/>
            </a:endParaRPr>
          </a:p>
          <a:p>
            <a:pPr marL="1155700" marR="889000" lvl="2" indent="-228600">
              <a:lnSpc>
                <a:spcPct val="8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cf.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objects 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automatically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converted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true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Boolean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expressions.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1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Class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Methods: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toFixed(),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toExponential(),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toPrecision(),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Whenever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possible,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numeric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primitives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instead.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1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Class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Property: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length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Methods: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charAt(),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charCodeAt(),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indexOf(),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lastIndexOf()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localeCompare(),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concat(),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slice(),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substring()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replace(),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split(),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match(),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search()</a:t>
            </a:r>
            <a:endParaRPr sz="1800">
              <a:latin typeface="Verdana"/>
              <a:cs typeface="Verdana"/>
            </a:endParaRPr>
          </a:p>
          <a:p>
            <a:pPr marL="1155700" marR="810895" lvl="2" indent="-228600">
              <a:lnSpc>
                <a:spcPct val="8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toLowerCase()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toLocaleLowerCase(),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toUpperCase(), </a:t>
            </a:r>
            <a:r>
              <a:rPr sz="1800" dirty="0">
                <a:latin typeface="Verdana"/>
                <a:cs typeface="Verdana"/>
              </a:rPr>
              <a:t>toLocaleUpperCase(),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8446"/>
            <a:ext cx="7489190" cy="48552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Unary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delete, void,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Prefix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++/-</a:t>
            </a:r>
            <a:r>
              <a:rPr sz="1800" spc="-10" dirty="0">
                <a:latin typeface="Verdana"/>
                <a:cs typeface="Verdana"/>
              </a:rPr>
              <a:t>-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Postfix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++/--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Unary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+/-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Bitwise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~,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&amp;, |,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^,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&lt;&lt;,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&gt;&gt;,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&gt;&gt;&gt;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Boolean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!, &amp;&amp;, </a:t>
            </a:r>
            <a:r>
              <a:rPr sz="1800" spc="-25" dirty="0">
                <a:latin typeface="Verdana"/>
                <a:cs typeface="Verdana"/>
              </a:rPr>
              <a:t>||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Arithmetic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14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+,</a:t>
            </a:r>
            <a:r>
              <a:rPr sz="1800" spc="-10" dirty="0">
                <a:latin typeface="Verdana"/>
                <a:cs typeface="Verdana"/>
              </a:rPr>
              <a:t> -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*, /,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%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9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Assignment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14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+=,</a:t>
            </a:r>
            <a:r>
              <a:rPr sz="1800" spc="-10" dirty="0">
                <a:latin typeface="Verdana"/>
                <a:cs typeface="Verdana"/>
              </a:rPr>
              <a:t> -</a:t>
            </a:r>
            <a:r>
              <a:rPr sz="1800" dirty="0">
                <a:latin typeface="Verdana"/>
                <a:cs typeface="Verdana"/>
              </a:rPr>
              <a:t>=,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*=,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%=, &amp;=,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|=,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^=, &lt;&lt;=,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&gt;&gt;=,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&gt;&gt;&gt;=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9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Comparison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05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==,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!=,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&gt;,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&gt;=,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&lt;,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&lt;=,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===,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!==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Conditional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variable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boolean_expression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true_value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false_value;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1800" spc="-10" dirty="0">
                <a:latin typeface="Verdana"/>
                <a:cs typeface="Verdana"/>
              </a:rPr>
              <a:t>Comma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iNum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iNum=2;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Statements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1471"/>
            <a:ext cx="6997065" cy="49466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if...else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switch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while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do...while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25" dirty="0">
                <a:latin typeface="Verdana"/>
                <a:cs typeface="Verdana"/>
              </a:rPr>
              <a:t>for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for...in</a:t>
            </a:r>
            <a:endParaRPr sz="20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3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It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enumerate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 	</a:t>
            </a:r>
            <a:r>
              <a:rPr sz="1800" dirty="0">
                <a:latin typeface="Verdana"/>
                <a:cs typeface="Verdana"/>
              </a:rPr>
              <a:t>(cf.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propertyIsEnumerable().)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</a:t>
            </a:r>
            <a:r>
              <a:rPr sz="1800" i="1" dirty="0">
                <a:latin typeface="Verdana"/>
                <a:cs typeface="Verdana"/>
              </a:rPr>
              <a:t>property</a:t>
            </a:r>
            <a:r>
              <a:rPr sz="1800" i="1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expression</a:t>
            </a:r>
            <a:r>
              <a:rPr sz="1800" dirty="0">
                <a:latin typeface="Verdana"/>
                <a:cs typeface="Verdana"/>
              </a:rPr>
              <a:t>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statement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20" dirty="0">
                <a:latin typeface="Verdana"/>
                <a:cs typeface="Verdana"/>
              </a:rPr>
              <a:t>with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very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slow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segment.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best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avoid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it.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Label,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break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continue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try...catch...finally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throw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367270" cy="4874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collection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statements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run</a:t>
            </a:r>
            <a:endParaRPr sz="2000">
              <a:latin typeface="Verdana"/>
              <a:cs typeface="Verdana"/>
            </a:endParaRPr>
          </a:p>
          <a:p>
            <a:pPr marR="4207510" algn="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anywhere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anytime.</a:t>
            </a:r>
            <a:endParaRPr sz="2000">
              <a:latin typeface="Verdana"/>
              <a:cs typeface="Verdana"/>
            </a:endParaRPr>
          </a:p>
          <a:p>
            <a:pPr marL="342265" marR="4248785" indent="-342265" algn="r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422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function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keyword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functionName(arg0,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arg1,</a:t>
            </a:r>
            <a:r>
              <a:rPr sz="1800" dirty="0">
                <a:latin typeface="Century Gothic"/>
                <a:cs typeface="Century Gothic"/>
              </a:rPr>
              <a:t>…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argN)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{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functionBody</a:t>
            </a:r>
            <a:r>
              <a:rPr sz="1800" spc="-50" dirty="0">
                <a:latin typeface="Verdana"/>
                <a:cs typeface="Verdana"/>
              </a:rPr>
              <a:t> 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functionName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function(arg1,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arg2,</a:t>
            </a:r>
            <a:r>
              <a:rPr sz="1800" dirty="0">
                <a:latin typeface="Century Gothic"/>
                <a:cs typeface="Century Gothic"/>
              </a:rPr>
              <a:t>…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argN)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{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functionBody</a:t>
            </a:r>
            <a:r>
              <a:rPr sz="1800" spc="-50" dirty="0">
                <a:latin typeface="Verdana"/>
                <a:cs typeface="Verdana"/>
              </a:rPr>
              <a:t> }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Functions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return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actually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return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i="1" spc="-10" dirty="0">
                <a:latin typeface="Verdana"/>
                <a:cs typeface="Verdana"/>
              </a:rPr>
              <a:t>undefined.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Functions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cannot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overloaded.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becomes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used.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Class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actually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full-</a:t>
            </a:r>
            <a:r>
              <a:rPr sz="1800" dirty="0">
                <a:latin typeface="Verdana"/>
                <a:cs typeface="Verdana"/>
              </a:rPr>
              <a:t>fledged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objects.</a:t>
            </a:r>
            <a:endParaRPr sz="1800">
              <a:latin typeface="Verdana"/>
              <a:cs typeface="Verdana"/>
            </a:endParaRPr>
          </a:p>
          <a:p>
            <a:pPr marL="755015" marR="267970" lvl="1" indent="-285750">
              <a:lnSpc>
                <a:spcPct val="101099"/>
              </a:lnSpc>
              <a:spcBef>
                <a:spcPts val="38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functionName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Function(arg1,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arg2,</a:t>
            </a:r>
            <a:r>
              <a:rPr sz="1800" dirty="0">
                <a:latin typeface="Century Gothic"/>
                <a:cs typeface="Century Gothic"/>
              </a:rPr>
              <a:t>…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argN, 	functionBody);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3113"/>
            <a:ext cx="8044180" cy="505269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arguments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</a:t>
            </a:r>
            <a:endParaRPr sz="20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6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Within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function</a:t>
            </a:r>
            <a:r>
              <a:rPr sz="1800" spc="-100" dirty="0">
                <a:latin typeface="Century Gothic"/>
                <a:cs typeface="Century Gothic"/>
              </a:rPr>
              <a:t>‟</a:t>
            </a:r>
            <a:r>
              <a:rPr sz="1800" spc="-100" dirty="0">
                <a:latin typeface="Verdana"/>
                <a:cs typeface="Verdana"/>
              </a:rPr>
              <a:t>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code,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called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arguments 	</a:t>
            </a:r>
            <a:r>
              <a:rPr sz="1800" dirty="0">
                <a:latin typeface="Verdana"/>
                <a:cs typeface="Verdana"/>
              </a:rPr>
              <a:t>give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developer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access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function</a:t>
            </a:r>
            <a:r>
              <a:rPr sz="1800" spc="-105" dirty="0">
                <a:latin typeface="Century Gothic"/>
                <a:cs typeface="Century Gothic"/>
              </a:rPr>
              <a:t>‟</a:t>
            </a:r>
            <a:r>
              <a:rPr sz="1800" spc="-105" dirty="0">
                <a:latin typeface="Verdana"/>
                <a:cs typeface="Verdana"/>
              </a:rPr>
              <a:t>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parameters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without 	</a:t>
            </a:r>
            <a:r>
              <a:rPr sz="1800" dirty="0">
                <a:latin typeface="Verdana"/>
                <a:cs typeface="Verdana"/>
              </a:rPr>
              <a:t>specifically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naming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them.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developer-</a:t>
            </a:r>
            <a:r>
              <a:rPr sz="1800" dirty="0">
                <a:latin typeface="Verdana"/>
                <a:cs typeface="Verdana"/>
              </a:rPr>
              <a:t>defined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accepts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(up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255).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missing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passed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undefined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excess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ignored.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doAdd()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R="3178175" algn="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(arguments.length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1)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R="3174365" algn="r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alert(arguments[0]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10);</a:t>
            </a:r>
            <a:endParaRPr sz="1800">
              <a:latin typeface="Verdana"/>
              <a:cs typeface="Verdana"/>
            </a:endParaRPr>
          </a:p>
          <a:p>
            <a:pPr marL="1803400" marR="1878964" indent="-32512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(arguments.length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2)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</a:t>
            </a:r>
            <a:r>
              <a:rPr sz="1800" dirty="0">
                <a:latin typeface="Verdana"/>
                <a:cs typeface="Verdana"/>
              </a:rPr>
              <a:t>alert(arguments[0]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arguments[1]);</a:t>
            </a:r>
            <a:endParaRPr sz="1800">
              <a:latin typeface="Verdana"/>
              <a:cs typeface="Verdana"/>
            </a:endParaRPr>
          </a:p>
          <a:p>
            <a:pPr marL="147891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215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2150"/>
              </a:lnSpc>
              <a:tabLst>
                <a:tab pos="2965450" algn="l"/>
              </a:tabLst>
            </a:pPr>
            <a:r>
              <a:rPr sz="1800" spc="-10" dirty="0">
                <a:latin typeface="Verdana"/>
                <a:cs typeface="Verdana"/>
              </a:rPr>
              <a:t>doAdd(10);</a:t>
            </a:r>
            <a:r>
              <a:rPr sz="1800" dirty="0">
                <a:latin typeface="Verdana"/>
                <a:cs typeface="Verdana"/>
              </a:rPr>
              <a:t>	//outputs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20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doAdd(30,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20);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50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Functions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339724"/>
            <a:ext cx="7975600" cy="44551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93065" algn="l"/>
              </a:tabLst>
            </a:pPr>
            <a:r>
              <a:rPr sz="2000" spc="-10" dirty="0">
                <a:latin typeface="Verdana"/>
                <a:cs typeface="Verdana"/>
              </a:rPr>
              <a:t>Closures</a:t>
            </a:r>
            <a:endParaRPr sz="2000">
              <a:latin typeface="Verdana"/>
              <a:cs typeface="Verdana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85090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closure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(typically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have </a:t>
            </a:r>
            <a:r>
              <a:rPr sz="1800" dirty="0">
                <a:latin typeface="Verdana"/>
                <a:cs typeface="Verdana"/>
              </a:rPr>
              <a:t>free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variables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together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environment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binds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those </a:t>
            </a:r>
            <a:r>
              <a:rPr sz="1800" dirty="0">
                <a:latin typeface="Verdana"/>
                <a:cs typeface="Verdana"/>
              </a:rPr>
              <a:t>variables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(that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closes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expression).</a:t>
            </a:r>
            <a:endParaRPr sz="1800">
              <a:latin typeface="Verdana"/>
              <a:cs typeface="Verdana"/>
            </a:endParaRPr>
          </a:p>
          <a:p>
            <a:pPr marL="850900" marR="136525" lvl="1" indent="-38100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850900" algn="l"/>
              </a:tabLst>
            </a:pPr>
            <a:r>
              <a:rPr sz="1800" dirty="0">
                <a:latin typeface="Verdana"/>
                <a:cs typeface="Verdana"/>
              </a:rPr>
              <a:t>Functions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inside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functions.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inner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access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variables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parameters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the </a:t>
            </a:r>
            <a:r>
              <a:rPr sz="1800" dirty="0">
                <a:latin typeface="Verdana"/>
                <a:cs typeface="Verdana"/>
              </a:rPr>
              <a:t>outer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  <a:p>
            <a:pPr marL="850900" lvl="1" indent="-38100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85090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inner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closure.</a:t>
            </a:r>
            <a:endParaRPr sz="1800">
              <a:latin typeface="Verdana"/>
              <a:cs typeface="Verdana"/>
            </a:endParaRPr>
          </a:p>
          <a:p>
            <a:pPr marL="1308100" lvl="2" indent="-381000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30810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iBaseNum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10;</a:t>
            </a:r>
            <a:endParaRPr sz="1800">
              <a:latin typeface="Verdana"/>
              <a:cs typeface="Verdana"/>
            </a:endParaRPr>
          </a:p>
          <a:p>
            <a:pPr marL="1308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addNumbers(iNum1,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iNum2)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631314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doAddition()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9558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iBaseNum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iNum1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iNum2;</a:t>
            </a:r>
            <a:endParaRPr sz="1800">
              <a:latin typeface="Verdana"/>
              <a:cs typeface="Verdana"/>
            </a:endParaRPr>
          </a:p>
          <a:p>
            <a:pPr marL="1631314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1631314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doAddition():</a:t>
            </a:r>
            <a:endParaRPr sz="1800">
              <a:latin typeface="Verdana"/>
              <a:cs typeface="Verdana"/>
            </a:endParaRPr>
          </a:p>
          <a:p>
            <a:pPr marL="1308100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7861" y="180847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JavaScript</a:t>
            </a:r>
            <a:r>
              <a:rPr sz="1200" b="1" i="1" spc="-6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5785" y="2429967"/>
            <a:ext cx="615569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Object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Oriented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Programming</a:t>
            </a:r>
          </a:p>
          <a:p>
            <a:pPr marR="5080" algn="r">
              <a:lnSpc>
                <a:spcPct val="100000"/>
              </a:lnSpc>
            </a:pPr>
            <a:r>
              <a:rPr dirty="0">
                <a:solidFill>
                  <a:srgbClr val="FFFFFF"/>
                </a:solidFill>
              </a:rPr>
              <a:t>in</a:t>
            </a:r>
            <a:r>
              <a:rPr spc="-10" dirty="0">
                <a:solidFill>
                  <a:srgbClr val="FFFFFF"/>
                </a:solidFill>
              </a:rPr>
              <a:t> JavaScript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</a:t>
            </a:r>
            <a:r>
              <a:rPr spc="-155" dirty="0"/>
              <a:t> </a:t>
            </a:r>
            <a:r>
              <a:rPr dirty="0"/>
              <a:t>Oriented</a:t>
            </a:r>
            <a:r>
              <a:rPr spc="-150" dirty="0"/>
              <a:t> </a:t>
            </a:r>
            <a:r>
              <a:rPr spc="-10" dirty="0"/>
              <a:t>Terminology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1471"/>
            <a:ext cx="8055609" cy="47339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class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kind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recipe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object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instance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ECMAScript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classes;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ECMA-262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describes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object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definitions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recipes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355600" marR="133985" indent="-342900" algn="just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spc="-10" dirty="0">
                <a:latin typeface="Verdana"/>
                <a:cs typeface="Verdana"/>
              </a:rPr>
              <a:t>ECMA-</a:t>
            </a:r>
            <a:r>
              <a:rPr sz="2000" dirty="0">
                <a:latin typeface="Verdana"/>
                <a:cs typeface="Verdana"/>
              </a:rPr>
              <a:t>262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object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“</a:t>
            </a:r>
            <a:r>
              <a:rPr sz="2000" dirty="0">
                <a:latin typeface="Verdana"/>
                <a:cs typeface="Verdana"/>
              </a:rPr>
              <a:t>unordered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collection</a:t>
            </a:r>
            <a:r>
              <a:rPr sz="2000" spc="-25" dirty="0">
                <a:latin typeface="Verdana"/>
                <a:cs typeface="Verdana"/>
              </a:rPr>
              <a:t> of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contains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primitive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object,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function</a:t>
            </a:r>
            <a:r>
              <a:rPr sz="2000" spc="-10" dirty="0">
                <a:latin typeface="Century Gothic"/>
                <a:cs typeface="Century Gothic"/>
              </a:rPr>
              <a:t>”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4965" indent="-342265" algn="just">
              <a:lnSpc>
                <a:spcPct val="100000"/>
              </a:lnSpc>
              <a:spcBef>
                <a:spcPts val="4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member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considered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be</a:t>
            </a:r>
            <a:endParaRPr sz="2000">
              <a:latin typeface="Verdana"/>
              <a:cs typeface="Verdana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method</a:t>
            </a:r>
            <a:r>
              <a:rPr sz="2000" dirty="0">
                <a:latin typeface="Verdana"/>
                <a:cs typeface="Verdana"/>
              </a:rPr>
              <a:t>;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otherwise,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member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considered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property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5600" marR="372745" indent="-342900" algn="just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ECMAScript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supports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requirements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object-oriented languages.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Encapsulation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Inheritance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Polymorphism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vs.</a:t>
            </a:r>
            <a:r>
              <a:rPr spc="-20" dirty="0"/>
              <a:t> </a:t>
            </a:r>
            <a:r>
              <a:rPr spc="-10" dirty="0"/>
              <a:t>Prototype-based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969250" cy="45650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Class-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Programming</a:t>
            </a:r>
            <a:endParaRPr sz="20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style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object-</a:t>
            </a:r>
            <a:r>
              <a:rPr sz="1800" dirty="0">
                <a:latin typeface="Verdana"/>
                <a:cs typeface="Verdana"/>
              </a:rPr>
              <a:t>oriented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programming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inheritance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is 	</a:t>
            </a:r>
            <a:r>
              <a:rPr sz="1800" dirty="0">
                <a:latin typeface="Verdana"/>
                <a:cs typeface="Verdana"/>
              </a:rPr>
              <a:t>achieved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apposed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dirty="0">
                <a:latin typeface="Verdana"/>
                <a:cs typeface="Verdana"/>
              </a:rPr>
              <a:t>objects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themselves.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popular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developed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model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OOP.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Smalltalk,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C++,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Prototype-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Programming</a:t>
            </a:r>
            <a:endParaRPr sz="2000">
              <a:latin typeface="Verdana"/>
              <a:cs typeface="Verdana"/>
            </a:endParaRPr>
          </a:p>
          <a:p>
            <a:pPr marL="755015" marR="28194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style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object-</a:t>
            </a:r>
            <a:r>
              <a:rPr sz="1800" dirty="0">
                <a:latin typeface="Verdana"/>
                <a:cs typeface="Verdana"/>
              </a:rPr>
              <a:t>oriented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programming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classes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are 	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present,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behavior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reuse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(aka.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inheritance)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is 	</a:t>
            </a:r>
            <a:r>
              <a:rPr sz="1800" dirty="0">
                <a:latin typeface="Verdana"/>
                <a:cs typeface="Verdana"/>
              </a:rPr>
              <a:t>accomplished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through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process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cloning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existing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objects 	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prototypes.</a:t>
            </a:r>
            <a:endParaRPr sz="1800">
              <a:latin typeface="Verdana"/>
              <a:cs typeface="Verdana"/>
            </a:endParaRPr>
          </a:p>
          <a:p>
            <a:pPr marL="755015" marR="1523365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spc="-10" dirty="0">
                <a:latin typeface="Verdana"/>
                <a:cs typeface="Verdana"/>
              </a:rPr>
              <a:t>Class-</a:t>
            </a:r>
            <a:r>
              <a:rPr sz="1800" dirty="0">
                <a:latin typeface="Verdana"/>
                <a:cs typeface="Verdana"/>
              </a:rPr>
              <a:t>less,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prototype-</a:t>
            </a:r>
            <a:r>
              <a:rPr sz="1800" dirty="0">
                <a:latin typeface="Verdana"/>
                <a:cs typeface="Verdana"/>
              </a:rPr>
              <a:t>oriented,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10" dirty="0">
                <a:latin typeface="Verdana"/>
                <a:cs typeface="Verdana"/>
              </a:rPr>
              <a:t>instance-based 	programming.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Self,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Cecil,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ECMAScript(JavaScript),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Early</a:t>
            </a:r>
            <a:r>
              <a:rPr spc="-30" dirty="0"/>
              <a:t> </a:t>
            </a:r>
            <a:r>
              <a:rPr dirty="0"/>
              <a:t>Binding</a:t>
            </a:r>
            <a:r>
              <a:rPr spc="-25" dirty="0"/>
              <a:t> </a:t>
            </a:r>
            <a:r>
              <a:rPr dirty="0"/>
              <a:t>vs.</a:t>
            </a:r>
            <a:r>
              <a:rPr spc="-40" dirty="0"/>
              <a:t> </a:t>
            </a:r>
            <a:r>
              <a:rPr dirty="0"/>
              <a:t>Late</a:t>
            </a:r>
            <a:r>
              <a:rPr spc="-25" dirty="0"/>
              <a:t> </a:t>
            </a:r>
            <a:r>
              <a:rPr spc="-10" dirty="0"/>
              <a:t>Binding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039734" cy="39166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8796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i="1" dirty="0">
                <a:latin typeface="Verdana"/>
                <a:cs typeface="Verdana"/>
              </a:rPr>
              <a:t>Early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binding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25" dirty="0">
                <a:latin typeface="Verdana"/>
                <a:cs typeface="Verdana"/>
              </a:rPr>
              <a:t> are </a:t>
            </a:r>
            <a:r>
              <a:rPr sz="2000" dirty="0">
                <a:latin typeface="Verdana"/>
                <a:cs typeface="Verdana"/>
              </a:rPr>
              <a:t>defined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(via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class)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before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instantiated 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compiler/interpreter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properly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assemble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machine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ahead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time.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Java,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Visual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Basic,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etc.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(cf.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IntelliSense)</a:t>
            </a:r>
            <a:endParaRPr sz="1800">
              <a:latin typeface="Verdana"/>
              <a:cs typeface="Verdana"/>
            </a:endParaRPr>
          </a:p>
          <a:p>
            <a:pPr marL="355600" marR="374650" indent="-342900">
              <a:lnSpc>
                <a:spcPct val="100200"/>
              </a:lnSpc>
              <a:spcBef>
                <a:spcPts val="19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i="1" dirty="0">
                <a:latin typeface="Verdana"/>
                <a:cs typeface="Verdana"/>
              </a:rPr>
              <a:t>Late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binding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means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compiler/interpreter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doesn</a:t>
            </a:r>
            <a:r>
              <a:rPr sz="2000" spc="-155" dirty="0">
                <a:latin typeface="Century Gothic"/>
                <a:cs typeface="Century Gothic"/>
              </a:rPr>
              <a:t>‟</a:t>
            </a:r>
            <a:r>
              <a:rPr sz="2000" spc="-155" dirty="0">
                <a:latin typeface="Verdana"/>
                <a:cs typeface="Verdana"/>
              </a:rPr>
              <a:t>t </a:t>
            </a:r>
            <a:r>
              <a:rPr sz="2000" dirty="0">
                <a:latin typeface="Verdana"/>
                <a:cs typeface="Verdana"/>
              </a:rPr>
              <a:t>know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held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particular </a:t>
            </a:r>
            <a:r>
              <a:rPr sz="2000" dirty="0">
                <a:latin typeface="Verdana"/>
                <a:cs typeface="Verdana"/>
              </a:rPr>
              <a:t>variable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until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runtime.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ECMAScript(JavaScript),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19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Due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binding,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allows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large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amount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of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manipulation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occur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without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penalty.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Objects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JavaScript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845425" cy="50768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Native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supplied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implementation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independent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host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environment.</a:t>
            </a:r>
            <a:endParaRPr sz="1800">
              <a:latin typeface="Verdana"/>
              <a:cs typeface="Verdana"/>
            </a:endParaRPr>
          </a:p>
          <a:p>
            <a:pPr marL="755015" marR="611505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i="1" dirty="0">
                <a:latin typeface="Verdana"/>
                <a:cs typeface="Verdana"/>
              </a:rPr>
              <a:t>Object,</a:t>
            </a:r>
            <a:r>
              <a:rPr sz="1800" i="1" spc="-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Boolean,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Number,</a:t>
            </a:r>
            <a:r>
              <a:rPr sz="1800" i="1" spc="-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String,</a:t>
            </a:r>
            <a:r>
              <a:rPr sz="1800" i="1" spc="-5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Function,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Array,</a:t>
            </a:r>
            <a:r>
              <a:rPr sz="1800" i="1" spc="-6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Date, 	</a:t>
            </a:r>
            <a:r>
              <a:rPr sz="1800" i="1" dirty="0">
                <a:latin typeface="Verdana"/>
                <a:cs typeface="Verdana"/>
              </a:rPr>
              <a:t>RegExp,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Error,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EvalError,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RangeError,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ReferenceError, 	</a:t>
            </a:r>
            <a:r>
              <a:rPr sz="1800" i="1" dirty="0">
                <a:latin typeface="Verdana"/>
                <a:cs typeface="Verdana"/>
              </a:rPr>
              <a:t>SyntaxError,</a:t>
            </a:r>
            <a:r>
              <a:rPr sz="1800" i="1" spc="-10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TypeError,</a:t>
            </a:r>
            <a:r>
              <a:rPr sz="1800" i="1" spc="-6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URInternet</a:t>
            </a:r>
            <a:r>
              <a:rPr sz="1800" i="1" spc="-5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Explorerrror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Built-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supplied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implementation, 	</a:t>
            </a:r>
            <a:r>
              <a:rPr sz="1800" dirty="0">
                <a:latin typeface="Verdana"/>
                <a:cs typeface="Verdana"/>
              </a:rPr>
              <a:t>independent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host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environment,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present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dirty="0">
                <a:latin typeface="Verdana"/>
                <a:cs typeface="Verdana"/>
              </a:rPr>
              <a:t>start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execution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program.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Every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build-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native</a:t>
            </a:r>
            <a:r>
              <a:rPr sz="1800" spc="-10" dirty="0">
                <a:latin typeface="Verdana"/>
                <a:cs typeface="Verdana"/>
              </a:rPr>
              <a:t> object.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i="1" dirty="0">
                <a:latin typeface="Verdana"/>
                <a:cs typeface="Verdana"/>
              </a:rPr>
              <a:t>Global,</a:t>
            </a:r>
            <a:r>
              <a:rPr sz="1800" i="1" spc="-60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Math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Host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  <a:p>
            <a:pPr marL="285750" marR="794385" lvl="1" indent="-285750" algn="ctr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285750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native,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provided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host</a:t>
            </a:r>
            <a:endParaRPr sz="1800">
              <a:latin typeface="Verdana"/>
              <a:cs typeface="Verdana"/>
            </a:endParaRPr>
          </a:p>
          <a:p>
            <a:pPr marR="852169" algn="ctr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environment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implementation.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All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BOM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objects are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considered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host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Array</a:t>
            </a:r>
            <a:r>
              <a:rPr spc="-50" dirty="0"/>
              <a:t> </a:t>
            </a:r>
            <a:r>
              <a:rPr spc="-20" dirty="0"/>
              <a:t>Class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588250" cy="50895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How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Array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aValues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Array(10);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aColors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red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green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blue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aColors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red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green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blue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];</a:t>
            </a:r>
            <a:endParaRPr sz="18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array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dynamically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grows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size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additional item.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aColor[3]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yellow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aColor[4]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white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...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Property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Array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length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Array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join(),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split()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concat(),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slice()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push(),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pop()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shift(),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unshift()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reverse(),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sort()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Date</a:t>
            </a:r>
            <a:r>
              <a:rPr spc="-50" dirty="0"/>
              <a:t> </a:t>
            </a:r>
            <a:r>
              <a:rPr spc="-10" dirty="0"/>
              <a:t>Class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1471"/>
            <a:ext cx="7639050" cy="48012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earlier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versions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java.util.Date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Java.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How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new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today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Date();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parse(),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UTC()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Overides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toString()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valueOf()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differently.</a:t>
            </a:r>
            <a:endParaRPr sz="1800">
              <a:latin typeface="Verdana"/>
              <a:cs typeface="Verdana"/>
            </a:endParaRPr>
          </a:p>
          <a:p>
            <a:pPr marL="755015" marR="149225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toDateString(),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toTimeString(),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toLocaleString(), 	</a:t>
            </a:r>
            <a:r>
              <a:rPr sz="1800" dirty="0">
                <a:latin typeface="Verdana"/>
                <a:cs typeface="Verdana"/>
              </a:rPr>
              <a:t>toLocaleDateString(),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toLocaleTimeString(),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toUTCString()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getTimezoneOffset()</a:t>
            </a:r>
            <a:endParaRPr sz="1800">
              <a:latin typeface="Verdana"/>
              <a:cs typeface="Verdana"/>
            </a:endParaRPr>
          </a:p>
          <a:p>
            <a:pPr marL="755015" marR="38227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getTime(),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getFullYear(),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getUTCFullYear(),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getMonth(), 	</a:t>
            </a:r>
            <a:r>
              <a:rPr sz="1800" dirty="0">
                <a:latin typeface="Verdana"/>
                <a:cs typeface="Verdana"/>
              </a:rPr>
              <a:t>getUTCMonth(),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getDate(),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getUTCDate(),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getDay(), 	</a:t>
            </a:r>
            <a:r>
              <a:rPr sz="1800" dirty="0">
                <a:latin typeface="Verdana"/>
                <a:cs typeface="Verdana"/>
              </a:rPr>
              <a:t>getUTCDay(),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getHours(),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getUTCHours(),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getMinutes(), 	getUTCMinutes(),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getSeconds(),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getUTCSecounds(), 	</a:t>
            </a:r>
            <a:r>
              <a:rPr sz="1800" dirty="0">
                <a:latin typeface="Verdana"/>
                <a:cs typeface="Verdana"/>
              </a:rPr>
              <a:t>getMilliseconds(),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getUTCMillisenconds()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Also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equivalent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above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methods.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Global</a:t>
            </a:r>
            <a:r>
              <a:rPr spc="-45" dirty="0"/>
              <a:t> </a:t>
            </a:r>
            <a:r>
              <a:rPr spc="-10" dirty="0"/>
              <a:t>Object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830820" cy="5020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keeper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inside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other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explicit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name.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pointer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Global;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error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Sometimes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this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variable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points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often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not.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web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browsers,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window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self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members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the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point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undefined,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NaN,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Infinity,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native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constructors.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isNaN(),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isFinite(),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parseInt(),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parseFloat()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145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encodeURI(),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encodeURIComponent(),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decodeURI(),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45"/>
              </a:lnSpc>
            </a:pPr>
            <a:r>
              <a:rPr sz="1800" dirty="0">
                <a:latin typeface="Verdana"/>
                <a:cs typeface="Verdana"/>
              </a:rPr>
              <a:t>decodeURIComponent()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Unicode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encoding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support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cf.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escape(),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unescape()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ASCII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encoding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only;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BOM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eval()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Math</a:t>
            </a:r>
            <a:r>
              <a:rPr spc="-55" dirty="0"/>
              <a:t> </a:t>
            </a:r>
            <a:r>
              <a:rPr spc="-10" dirty="0"/>
              <a:t>Object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6877050" cy="50768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LN10,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LN2,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LOG2E,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LOG10E,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PI,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SQRT1_2,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SQRT2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Math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min(),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max(),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abs()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ceil(),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floor(),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round()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exp(),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log(),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pow(),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sqrt()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acos(),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asin(),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atan(),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atan2(),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cos(),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sin(),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tan()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random()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example:</a:t>
            </a:r>
            <a:endParaRPr sz="2000">
              <a:latin typeface="Verdana"/>
              <a:cs typeface="Verdana"/>
            </a:endParaRPr>
          </a:p>
          <a:p>
            <a:pPr marL="755650" marR="74549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selectFrom(iFirstValue,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iLastValue)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iChoices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iLastValue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iFirstValue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1; 	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Math.floor(Math.random()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iChoices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+ </a:t>
            </a:r>
            <a:r>
              <a:rPr sz="1800" spc="-10" dirty="0">
                <a:latin typeface="Verdana"/>
                <a:cs typeface="Verdana"/>
              </a:rPr>
              <a:t>iFirstValue);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6285" marR="24638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//select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between 2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10 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iNum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selectFrom(2,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10);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Scope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345"/>
            <a:ext cx="7880350" cy="475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28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All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i="1" spc="-10" dirty="0">
                <a:latin typeface="Verdana"/>
                <a:cs typeface="Verdana"/>
              </a:rPr>
              <a:t>public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5600" marR="334010" indent="-342900">
              <a:lnSpc>
                <a:spcPts val="2160"/>
              </a:lnSpc>
              <a:spcBef>
                <a:spcPts val="509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Due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lack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private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scope,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convention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was </a:t>
            </a:r>
            <a:r>
              <a:rPr sz="2000" dirty="0">
                <a:latin typeface="Verdana"/>
                <a:cs typeface="Verdana"/>
              </a:rPr>
              <a:t>developed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indicate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should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considered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private.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ts val="2050"/>
              </a:lnSpc>
              <a:spcBef>
                <a:spcPts val="170"/>
              </a:spcBef>
              <a:tabLst>
                <a:tab pos="2491105" algn="l"/>
                <a:tab pos="3415665" algn="l"/>
              </a:tabLst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10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Verdana"/>
                <a:cs typeface="Verdana"/>
              </a:rPr>
              <a:t>someObject.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color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dirty="0">
                <a:latin typeface="Verdana"/>
                <a:cs typeface="Verdana"/>
              </a:rPr>
              <a:t>=</a:t>
            </a:r>
            <a:r>
              <a:rPr sz="1800" u="none" spc="-25" dirty="0">
                <a:latin typeface="Verdana"/>
                <a:cs typeface="Verdana"/>
              </a:rPr>
              <a:t> </a:t>
            </a:r>
            <a:r>
              <a:rPr sz="1800" u="none" dirty="0">
                <a:latin typeface="Century Gothic"/>
                <a:cs typeface="Century Gothic"/>
              </a:rPr>
              <a:t>“</a:t>
            </a:r>
            <a:r>
              <a:rPr sz="1800" u="none" dirty="0">
                <a:latin typeface="Verdana"/>
                <a:cs typeface="Verdana"/>
              </a:rPr>
              <a:t>red</a:t>
            </a:r>
            <a:r>
              <a:rPr sz="1800" u="none" dirty="0">
                <a:latin typeface="Century Gothic"/>
                <a:cs typeface="Century Gothic"/>
              </a:rPr>
              <a:t>”</a:t>
            </a:r>
            <a:r>
              <a:rPr sz="1800" u="none" dirty="0">
                <a:latin typeface="Verdana"/>
                <a:cs typeface="Verdana"/>
              </a:rPr>
              <a:t>;</a:t>
            </a:r>
            <a:r>
              <a:rPr sz="1800" u="none" spc="-10" dirty="0">
                <a:latin typeface="Verdana"/>
                <a:cs typeface="Verdana"/>
              </a:rPr>
              <a:t> </a:t>
            </a:r>
            <a:r>
              <a:rPr sz="1800" u="none" spc="-25" dirty="0">
                <a:latin typeface="Verdana"/>
                <a:cs typeface="Verdana"/>
              </a:rPr>
              <a:t>or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dirty="0">
                <a:latin typeface="Verdana"/>
                <a:cs typeface="Verdana"/>
              </a:rPr>
              <a:t>someOjbect._color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red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Strictly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speaking,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60" dirty="0">
                <a:latin typeface="Verdana"/>
                <a:cs typeface="Verdana"/>
              </a:rPr>
              <a:t>doesn</a:t>
            </a:r>
            <a:r>
              <a:rPr sz="2000" spc="-160" dirty="0">
                <a:latin typeface="Century Gothic"/>
                <a:cs typeface="Century Gothic"/>
              </a:rPr>
              <a:t>‟</a:t>
            </a:r>
            <a:r>
              <a:rPr sz="2000" spc="-160" dirty="0">
                <a:latin typeface="Verdana"/>
                <a:cs typeface="Verdana"/>
              </a:rPr>
              <a:t>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static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scope.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ts val="2280"/>
              </a:lnSpc>
              <a:spcBef>
                <a:spcPts val="2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this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keyword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always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points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calling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method.</a:t>
            </a:r>
            <a:endParaRPr sz="2000">
              <a:latin typeface="Verdana"/>
              <a:cs typeface="Verdana"/>
            </a:endParaRPr>
          </a:p>
          <a:p>
            <a:pPr marL="355600" marR="130810" indent="-342900">
              <a:lnSpc>
                <a:spcPts val="2160"/>
              </a:lnSpc>
              <a:spcBef>
                <a:spcPts val="5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inside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var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with </a:t>
            </a:r>
            <a:r>
              <a:rPr sz="2000" i="1" spc="-10" dirty="0">
                <a:latin typeface="Verdana"/>
                <a:cs typeface="Verdana"/>
              </a:rPr>
              <a:t>function-</a:t>
            </a:r>
            <a:r>
              <a:rPr sz="2000" i="1" dirty="0">
                <a:latin typeface="Verdana"/>
                <a:cs typeface="Verdana"/>
              </a:rPr>
              <a:t>scope</a:t>
            </a:r>
            <a:r>
              <a:rPr sz="2000" dirty="0">
                <a:latin typeface="Verdana"/>
                <a:cs typeface="Verdana"/>
              </a:rPr>
              <a:t>.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accessible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from </a:t>
            </a:r>
            <a:r>
              <a:rPr sz="2000" dirty="0">
                <a:latin typeface="Verdana"/>
                <a:cs typeface="Verdana"/>
              </a:rPr>
              <a:t>outside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function.</a:t>
            </a:r>
            <a:endParaRPr sz="2000">
              <a:latin typeface="Verdana"/>
              <a:cs typeface="Verdana"/>
            </a:endParaRPr>
          </a:p>
          <a:p>
            <a:pPr marL="355600" marR="281940" indent="-342900">
              <a:lnSpc>
                <a:spcPts val="216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Any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explicitly </a:t>
            </a:r>
            <a:r>
              <a:rPr sz="2000" dirty="0">
                <a:latin typeface="Verdana"/>
                <a:cs typeface="Verdana"/>
              </a:rPr>
              <a:t>defined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var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assumed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belong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scope, </a:t>
            </a:r>
            <a:r>
              <a:rPr sz="2000" dirty="0">
                <a:latin typeface="Verdana"/>
                <a:cs typeface="Verdana"/>
              </a:rPr>
              <a:t>possibly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Global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Objects</a:t>
            </a:r>
            <a:r>
              <a:rPr spc="-10" dirty="0"/>
              <a:t> </a:t>
            </a:r>
            <a:r>
              <a:rPr dirty="0"/>
              <a:t>in </a:t>
            </a:r>
            <a:r>
              <a:rPr spc="-10" dirty="0"/>
              <a:t>JavaScript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026400" cy="494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implemented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collection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of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named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properties.</a:t>
            </a:r>
            <a:endParaRPr sz="2000">
              <a:latin typeface="Verdana"/>
              <a:cs typeface="Verdana"/>
            </a:endParaRPr>
          </a:p>
          <a:p>
            <a:pPr marL="355600" marR="3606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hashtables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spc="-10" dirty="0">
                <a:latin typeface="Verdana"/>
                <a:cs typeface="Verdana"/>
              </a:rPr>
              <a:t>dictionaries.</a:t>
            </a:r>
            <a:endParaRPr sz="2000">
              <a:latin typeface="Verdana"/>
              <a:cs typeface="Verdana"/>
            </a:endParaRPr>
          </a:p>
          <a:p>
            <a:pPr marL="355600" marR="930275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directly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through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literal notation:</a:t>
            </a:r>
            <a:endParaRPr sz="2000">
              <a:latin typeface="Verdana"/>
              <a:cs typeface="Verdana"/>
            </a:endParaRPr>
          </a:p>
          <a:p>
            <a:pPr marL="755650" marR="550418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myDog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age: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3,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2135"/>
              </a:lnSpc>
            </a:pPr>
            <a:r>
              <a:rPr sz="1800" dirty="0">
                <a:latin typeface="Verdana"/>
                <a:cs typeface="Verdana"/>
              </a:rPr>
              <a:t>color: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black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bark: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Woof!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25"/>
              </a:spcBef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015" marR="369570" lvl="1" indent="-285750">
              <a:lnSpc>
                <a:spcPct val="101099"/>
              </a:lnSpc>
              <a:spcBef>
                <a:spcPts val="38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object</a:t>
            </a:r>
            <a:r>
              <a:rPr sz="1800" spc="-130" dirty="0">
                <a:latin typeface="Century Gothic"/>
                <a:cs typeface="Century Gothic"/>
              </a:rPr>
              <a:t>‟</a:t>
            </a:r>
            <a:r>
              <a:rPr sz="1800" spc="-130" dirty="0">
                <a:latin typeface="Verdana"/>
                <a:cs typeface="Verdana"/>
              </a:rPr>
              <a:t>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</a:t>
            </a:r>
            <a:r>
              <a:rPr sz="1800" spc="-25" dirty="0">
                <a:latin typeface="Verdana"/>
                <a:cs typeface="Verdana"/>
              </a:rPr>
              <a:t> of 	</a:t>
            </a:r>
            <a:r>
              <a:rPr sz="1800" spc="-10" dirty="0">
                <a:latin typeface="Verdana"/>
                <a:cs typeface="Verdana"/>
              </a:rPr>
              <a:t>comma-</a:t>
            </a:r>
            <a:r>
              <a:rPr sz="1800" dirty="0">
                <a:latin typeface="Verdana"/>
                <a:cs typeface="Verdana"/>
              </a:rPr>
              <a:t>separated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name/value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pairs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inside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curly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braces.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Each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members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introduced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name,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followed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colon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definition.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created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assigning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anonymous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Objects</a:t>
            </a:r>
            <a:r>
              <a:rPr spc="-10" dirty="0"/>
              <a:t> </a:t>
            </a:r>
            <a:r>
              <a:rPr dirty="0"/>
              <a:t>in </a:t>
            </a:r>
            <a:r>
              <a:rPr spc="-10" dirty="0"/>
              <a:t>JavaScript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125459" cy="4783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7215" indent="-342900" algn="just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Being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interpreted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language,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allows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creation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number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any </a:t>
            </a:r>
            <a:r>
              <a:rPr sz="2000" spc="-10" dirty="0">
                <a:latin typeface="Verdana"/>
                <a:cs typeface="Verdana"/>
              </a:rPr>
              <a:t>time.</a:t>
            </a:r>
            <a:endParaRPr sz="2000">
              <a:latin typeface="Verdana"/>
              <a:cs typeface="Verdan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myDog.name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Snuppy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//using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dot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notation</a:t>
            </a:r>
            <a:endParaRPr sz="1800">
              <a:latin typeface="Verdana"/>
              <a:cs typeface="Verdana"/>
            </a:endParaRPr>
          </a:p>
          <a:p>
            <a:pPr marL="756285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myDog[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breed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]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Afghan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Hound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;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//using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subscript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notation</a:t>
            </a:r>
            <a:endParaRPr sz="1800">
              <a:latin typeface="Verdana"/>
              <a:cs typeface="Verdan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myDog[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name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];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Snuppy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6285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breed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myDog.breed;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Afghan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Hound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015" marR="495300" lvl="1" indent="-285750" algn="just">
              <a:lnSpc>
                <a:spcPct val="100000"/>
              </a:lnSpc>
              <a:spcBef>
                <a:spcPts val="45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reserved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cannot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notation,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but 	</a:t>
            </a:r>
            <a:r>
              <a:rPr sz="1800" dirty="0">
                <a:latin typeface="Verdana"/>
                <a:cs typeface="Verdana"/>
              </a:rPr>
              <a:t>they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subscript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notation.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(JSON)</a:t>
            </a:r>
            <a:endParaRPr sz="2000">
              <a:latin typeface="Verdana"/>
              <a:cs typeface="Verdana"/>
            </a:endParaRPr>
          </a:p>
          <a:p>
            <a:pPr marL="755015" marR="26924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JSON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simple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notation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uses</a:t>
            </a:r>
            <a:r>
              <a:rPr sz="1800" spc="-10" dirty="0">
                <a:latin typeface="Verdana"/>
                <a:cs typeface="Verdana"/>
              </a:rPr>
              <a:t> JavaScript-</a:t>
            </a:r>
            <a:r>
              <a:rPr sz="1800" dirty="0">
                <a:latin typeface="Verdana"/>
                <a:cs typeface="Verdana"/>
              </a:rPr>
              <a:t>like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syntax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for 	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exchange.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JSON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pretty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everywhere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days, 	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functions,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server 	</a:t>
            </a:r>
            <a:r>
              <a:rPr sz="1800" dirty="0">
                <a:latin typeface="Verdana"/>
                <a:cs typeface="Verdana"/>
              </a:rPr>
              <a:t>responses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(in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strings),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Objects</a:t>
            </a:r>
            <a:r>
              <a:rPr spc="-10" dirty="0"/>
              <a:t> </a:t>
            </a:r>
            <a:r>
              <a:rPr dirty="0"/>
              <a:t>in </a:t>
            </a:r>
            <a:r>
              <a:rPr spc="-10" dirty="0"/>
              <a:t>JavaScript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913370" cy="478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new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providing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name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instantiate.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myDog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Object();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simple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 </a:t>
            </a:r>
            <a:r>
              <a:rPr sz="1800" spc="-10" dirty="0">
                <a:latin typeface="Verdana"/>
                <a:cs typeface="Verdana"/>
              </a:rPr>
              <a:t>Object();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obj.x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obj.y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2;</a:t>
            </a:r>
            <a:endParaRPr sz="1800">
              <a:latin typeface="Verdana"/>
              <a:cs typeface="Verdana"/>
            </a:endParaRPr>
          </a:p>
          <a:p>
            <a:pPr marL="755015" marR="2882900" lvl="1" indent="-285750" algn="just">
              <a:lnSpc>
                <a:spcPct val="100000"/>
              </a:lnSpc>
              <a:spcBef>
                <a:spcPts val="187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addition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x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properties, 	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additional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property 	</a:t>
            </a:r>
            <a:r>
              <a:rPr sz="1800" dirty="0">
                <a:latin typeface="Verdana"/>
                <a:cs typeface="Verdana"/>
              </a:rPr>
              <a:t>called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constructor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015" marR="3261360" lvl="1" indent="-285750">
              <a:lnSpc>
                <a:spcPct val="100000"/>
              </a:lnSpc>
              <a:spcBef>
                <a:spcPts val="187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hidden 	</a:t>
            </a:r>
            <a:r>
              <a:rPr sz="1800" dirty="0">
                <a:latin typeface="Verdana"/>
                <a:cs typeface="Verdana"/>
              </a:rPr>
              <a:t>link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points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the 	</a:t>
            </a:r>
            <a:r>
              <a:rPr sz="1800" i="1" dirty="0">
                <a:latin typeface="Verdana"/>
                <a:cs typeface="Verdana"/>
              </a:rPr>
              <a:t>prototype</a:t>
            </a:r>
            <a:r>
              <a:rPr sz="1800" i="1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member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40" dirty="0">
                <a:latin typeface="Verdana"/>
                <a:cs typeface="Verdana"/>
              </a:rPr>
              <a:t>object</a:t>
            </a:r>
            <a:r>
              <a:rPr sz="1800" spc="-140" dirty="0">
                <a:latin typeface="Century Gothic"/>
                <a:cs typeface="Century Gothic"/>
              </a:rPr>
              <a:t>‟</a:t>
            </a:r>
            <a:r>
              <a:rPr sz="1800" spc="-140" dirty="0">
                <a:latin typeface="Verdana"/>
                <a:cs typeface="Verdana"/>
              </a:rPr>
              <a:t>s 	</a:t>
            </a:r>
            <a:r>
              <a:rPr sz="1800" spc="-10" dirty="0">
                <a:latin typeface="Verdana"/>
                <a:cs typeface="Verdana"/>
              </a:rPr>
              <a:t>constructor.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29312" y="3948112"/>
          <a:ext cx="2466975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obj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39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Object.prototype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constructor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Object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Constructor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882890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new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defined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simple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function.</a:t>
            </a:r>
            <a:endParaRPr sz="2000">
              <a:latin typeface="Verdana"/>
              <a:cs typeface="Verdana"/>
            </a:endParaRPr>
          </a:p>
          <a:p>
            <a:pPr marL="355600" marR="206375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new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operator,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function </a:t>
            </a:r>
            <a:r>
              <a:rPr sz="2000" dirty="0">
                <a:latin typeface="Verdana"/>
                <a:cs typeface="Verdana"/>
              </a:rPr>
              <a:t>servers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constructor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Internally,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constructor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function.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Inside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constructor,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variables </a:t>
            </a:r>
            <a:r>
              <a:rPr sz="2000" i="1" dirty="0">
                <a:latin typeface="Verdana"/>
                <a:cs typeface="Verdana"/>
              </a:rPr>
              <a:t>this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initialized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point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just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1079500" marR="5271770" indent="-609600">
              <a:lnSpc>
                <a:spcPct val="100000"/>
              </a:lnSpc>
              <a:spcBef>
                <a:spcPts val="440"/>
              </a:spcBef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95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Foo()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</a:t>
            </a:r>
            <a:r>
              <a:rPr sz="1800" dirty="0">
                <a:latin typeface="Verdana"/>
                <a:cs typeface="Verdana"/>
              </a:rPr>
              <a:t>this.x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1;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this.y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2;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10" dirty="0">
                <a:latin typeface="Verdana"/>
                <a:cs typeface="Verdana"/>
              </a:rPr>
              <a:t> Foo();</a:t>
            </a:r>
            <a:endParaRPr sz="1800">
              <a:latin typeface="Verdana"/>
              <a:cs typeface="Verdana"/>
            </a:endParaRPr>
          </a:p>
          <a:p>
            <a:pPr marL="355600" marR="3028950" indent="-342900" algn="just">
              <a:lnSpc>
                <a:spcPct val="100000"/>
              </a:lnSpc>
              <a:spcBef>
                <a:spcPts val="191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constructor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return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new </a:t>
            </a:r>
            <a:r>
              <a:rPr sz="2000" dirty="0">
                <a:latin typeface="Verdana"/>
                <a:cs typeface="Verdana"/>
              </a:rPr>
              <a:t>object,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unless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explicitly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overridden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return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statement.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53112" y="3871912"/>
          <a:ext cx="2543175" cy="2560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obj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39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Foo.prototype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constructor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Foo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39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Object.prototype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(Constructor)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Object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Prototype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979409" cy="506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6530" indent="-342900">
              <a:lnSpc>
                <a:spcPct val="100099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constructed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hidden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link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property,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contains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reference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constructor</a:t>
            </a:r>
            <a:r>
              <a:rPr sz="2000" spc="-85" dirty="0">
                <a:latin typeface="Century Gothic"/>
                <a:cs typeface="Century Gothic"/>
              </a:rPr>
              <a:t>‟</a:t>
            </a:r>
            <a:r>
              <a:rPr sz="2000" spc="-85" dirty="0">
                <a:latin typeface="Verdana"/>
                <a:cs typeface="Verdana"/>
              </a:rPr>
              <a:t>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prototype </a:t>
            </a:r>
            <a:r>
              <a:rPr sz="2000" spc="-10" dirty="0">
                <a:latin typeface="Verdana"/>
                <a:cs typeface="Verdana"/>
              </a:rPr>
              <a:t>member.</a:t>
            </a:r>
            <a:endParaRPr sz="2000">
              <a:latin typeface="Verdana"/>
              <a:cs typeface="Verdana"/>
            </a:endParaRPr>
          </a:p>
          <a:p>
            <a:pPr marL="355600" marR="296545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prototype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kind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template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upon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instantiated.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Any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properties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passed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instances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Chaining</a:t>
            </a:r>
            <a:endParaRPr sz="2000">
              <a:latin typeface="Verdana"/>
              <a:cs typeface="Verdana"/>
            </a:endParaRPr>
          </a:p>
          <a:p>
            <a:pPr marL="755015" marR="192405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When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evaluating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retrieve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property, 	</a:t>
            </a: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directly 	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  <a:p>
            <a:pPr marL="755015" marR="95885" lvl="1" indent="-285750">
              <a:lnSpc>
                <a:spcPct val="101099"/>
              </a:lnSpc>
              <a:spcBef>
                <a:spcPts val="38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object</a:t>
            </a:r>
            <a:r>
              <a:rPr sz="1800" spc="-125" dirty="0">
                <a:latin typeface="Century Gothic"/>
                <a:cs typeface="Century Gothic"/>
              </a:rPr>
              <a:t>‟</a:t>
            </a:r>
            <a:r>
              <a:rPr sz="1800" spc="-125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 prototype 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dirty="0">
                <a:latin typeface="Verdana"/>
                <a:cs typeface="Verdana"/>
              </a:rPr>
              <a:t>property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there.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continues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up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prototype</a:t>
            </a:r>
            <a:r>
              <a:rPr sz="1800" i="1" spc="-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chain</a:t>
            </a:r>
            <a:r>
              <a:rPr sz="1800" i="1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until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reaching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root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prototype.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chain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exhausted,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undefined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returned.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Defining</a:t>
            </a:r>
            <a:r>
              <a:rPr spc="-65" dirty="0"/>
              <a:t> </a:t>
            </a:r>
            <a:r>
              <a:rPr dirty="0"/>
              <a:t>Classes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3289300"/>
            <a:chOff x="1136650" y="1898650"/>
            <a:chExt cx="6850380" cy="32893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3276600"/>
            </a:xfrm>
            <a:custGeom>
              <a:avLst/>
              <a:gdLst/>
              <a:ahLst/>
              <a:cxnLst/>
              <a:rect l="l" t="t" r="r" b="b"/>
              <a:pathLst>
                <a:path w="6837680" h="3276600">
                  <a:moveTo>
                    <a:pt x="6837426" y="0"/>
                  </a:moveTo>
                  <a:lnTo>
                    <a:pt x="0" y="0"/>
                  </a:lnTo>
                  <a:lnTo>
                    <a:pt x="0" y="3276600"/>
                  </a:lnTo>
                  <a:lnTo>
                    <a:pt x="6837426" y="32766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3276600"/>
            </a:xfrm>
            <a:custGeom>
              <a:avLst/>
              <a:gdLst/>
              <a:ahLst/>
              <a:cxnLst/>
              <a:rect l="l" t="t" r="r" b="b"/>
              <a:pathLst>
                <a:path w="6837680" h="3276600">
                  <a:moveTo>
                    <a:pt x="0" y="3276600"/>
                  </a:moveTo>
                  <a:lnTo>
                    <a:pt x="6837426" y="32766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371345"/>
            <a:ext cx="6916420" cy="4867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Factory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Paradigm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L="1071880" marR="2447290" indent="-28511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createCar(sColor,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iDoors)</a:t>
            </a:r>
            <a:r>
              <a:rPr sz="1600" spc="-50" dirty="0">
                <a:latin typeface="Verdana"/>
                <a:cs typeface="Verdana"/>
              </a:rPr>
              <a:t> { </a:t>
            </a:r>
            <a:r>
              <a:rPr sz="1600" dirty="0">
                <a:latin typeface="Verdana"/>
                <a:cs typeface="Verdana"/>
              </a:rPr>
              <a:t>var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oTempCar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Object; </a:t>
            </a:r>
            <a:r>
              <a:rPr sz="1600" spc="-30" dirty="0">
                <a:latin typeface="Verdana"/>
                <a:cs typeface="Verdana"/>
              </a:rPr>
              <a:t>oTempCar.color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 </a:t>
            </a:r>
            <a:r>
              <a:rPr sz="1600" spc="-30" dirty="0">
                <a:latin typeface="Verdana"/>
                <a:cs typeface="Verdana"/>
              </a:rPr>
              <a:t>oTempCar.doors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iDoors;</a:t>
            </a:r>
            <a:endParaRPr sz="1600">
              <a:latin typeface="Verdana"/>
              <a:cs typeface="Verdana"/>
            </a:endParaRPr>
          </a:p>
          <a:p>
            <a:pPr marL="1071880" marR="5080">
              <a:lnSpc>
                <a:spcPct val="100000"/>
              </a:lnSpc>
              <a:tabLst>
                <a:tab pos="4928870" algn="l"/>
              </a:tabLst>
            </a:pPr>
            <a:r>
              <a:rPr sz="1600" spc="-30" dirty="0">
                <a:latin typeface="Verdana"/>
                <a:cs typeface="Verdana"/>
              </a:rPr>
              <a:t>oTempCar.showColor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r>
              <a:rPr sz="1600" dirty="0">
                <a:latin typeface="Verdana"/>
                <a:cs typeface="Verdana"/>
              </a:rPr>
              <a:t>	alert(this.color);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 </a:t>
            </a:r>
            <a:r>
              <a:rPr sz="1600" dirty="0">
                <a:latin typeface="Verdana"/>
                <a:cs typeface="Verdana"/>
              </a:rPr>
              <a:t>return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oTempCar;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 marR="2654935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oCar1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createCar("red",</a:t>
            </a:r>
            <a:r>
              <a:rPr sz="1600" spc="-25" dirty="0">
                <a:latin typeface="Verdana"/>
                <a:cs typeface="Verdana"/>
              </a:rPr>
              <a:t> 4); </a:t>
            </a:r>
            <a:r>
              <a:rPr sz="1600" dirty="0">
                <a:latin typeface="Verdana"/>
                <a:cs typeface="Verdana"/>
              </a:rPr>
              <a:t>var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oCar2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createCar("blue",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3);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tabLst>
                <a:tab pos="3081655" algn="l"/>
              </a:tabLst>
            </a:pPr>
            <a:r>
              <a:rPr sz="1600" spc="-10" dirty="0">
                <a:latin typeface="Verdana"/>
                <a:cs typeface="Verdana"/>
              </a:rPr>
              <a:t>oCar1.showColor();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"red"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tabLst>
                <a:tab pos="3082925" algn="l"/>
              </a:tabLst>
            </a:pPr>
            <a:r>
              <a:rPr sz="1600" spc="-10" dirty="0">
                <a:latin typeface="Verdana"/>
                <a:cs typeface="Verdana"/>
              </a:rPr>
              <a:t>oCar2.showColor();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"blue"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16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operator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semantically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favor.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35"/>
              </a:lnSpc>
              <a:spcBef>
                <a:spcPts val="2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Every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 has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version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showColor()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2035"/>
              </a:lnSpc>
            </a:pP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Each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 should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share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Defining</a:t>
            </a:r>
            <a:r>
              <a:rPr spc="-65" dirty="0"/>
              <a:t> </a:t>
            </a:r>
            <a:r>
              <a:rPr dirty="0"/>
              <a:t>Classes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2755900"/>
            <a:chOff x="1136650" y="1898650"/>
            <a:chExt cx="6850380" cy="27559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2743200"/>
            </a:xfrm>
            <a:custGeom>
              <a:avLst/>
              <a:gdLst/>
              <a:ahLst/>
              <a:cxnLst/>
              <a:rect l="l" t="t" r="r" b="b"/>
              <a:pathLst>
                <a:path w="6837680" h="2743200">
                  <a:moveTo>
                    <a:pt x="6837426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6837426" y="27432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2743200"/>
            </a:xfrm>
            <a:custGeom>
              <a:avLst/>
              <a:gdLst/>
              <a:ahLst/>
              <a:cxnLst/>
              <a:rect l="l" t="t" r="r" b="b"/>
              <a:pathLst>
                <a:path w="6837680" h="2743200">
                  <a:moveTo>
                    <a:pt x="0" y="2743200"/>
                  </a:moveTo>
                  <a:lnTo>
                    <a:pt x="6837426" y="27432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656195" cy="4554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Constructor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Paradigm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L="1071880" marR="3823970" indent="-28511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Car(sColor,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iDoors)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 </a:t>
            </a:r>
            <a:r>
              <a:rPr sz="1600" dirty="0">
                <a:latin typeface="Verdana"/>
                <a:cs typeface="Verdana"/>
              </a:rPr>
              <a:t>this.doors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iDoors;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this.showColor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5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oCar1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Car("red",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4);</a:t>
            </a:r>
            <a:endParaRPr sz="1600">
              <a:latin typeface="Verdana"/>
              <a:cs typeface="Verdana"/>
            </a:endParaRPr>
          </a:p>
          <a:p>
            <a:pPr marL="786765" marR="2921000">
              <a:lnSpc>
                <a:spcPct val="100000"/>
              </a:lnSpc>
              <a:tabLst>
                <a:tab pos="3081655" algn="l"/>
              </a:tabLst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oCar2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Car("blue",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3); </a:t>
            </a:r>
            <a:r>
              <a:rPr sz="1600" spc="-10" dirty="0">
                <a:latin typeface="Verdana"/>
                <a:cs typeface="Verdana"/>
              </a:rPr>
              <a:t>oCar1.showColor();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"red" oCar2.showColor();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"blue"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6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operator.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Just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like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factory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paradigm,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constructors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duplicate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functions.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15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Constructors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rewritten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external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functions,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but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semantically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45" dirty="0">
                <a:latin typeface="Verdana"/>
                <a:cs typeface="Verdana"/>
              </a:rPr>
              <a:t>doesn</a:t>
            </a:r>
            <a:r>
              <a:rPr sz="1800" spc="-145" dirty="0">
                <a:latin typeface="Century Gothic"/>
                <a:cs typeface="Century Gothic"/>
              </a:rPr>
              <a:t>‟</a:t>
            </a:r>
            <a:r>
              <a:rPr sz="1800" spc="-14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make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sense.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Defining</a:t>
            </a:r>
            <a:r>
              <a:rPr spc="-65" dirty="0"/>
              <a:t> </a:t>
            </a:r>
            <a:r>
              <a:rPr dirty="0"/>
              <a:t>Classes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3060700"/>
            <a:chOff x="1136650" y="1898650"/>
            <a:chExt cx="6850380" cy="30607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3048000"/>
            </a:xfrm>
            <a:custGeom>
              <a:avLst/>
              <a:gdLst/>
              <a:ahLst/>
              <a:cxnLst/>
              <a:rect l="l" t="t" r="r" b="b"/>
              <a:pathLst>
                <a:path w="6837680" h="3048000">
                  <a:moveTo>
                    <a:pt x="6837426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6837426" y="30480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3048000"/>
            </a:xfrm>
            <a:custGeom>
              <a:avLst/>
              <a:gdLst/>
              <a:ahLst/>
              <a:cxnLst/>
              <a:rect l="l" t="t" r="r" b="b"/>
              <a:pathLst>
                <a:path w="6837680" h="3048000">
                  <a:moveTo>
                    <a:pt x="0" y="3048000"/>
                  </a:moveTo>
                  <a:lnTo>
                    <a:pt x="6837426" y="30480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30480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221220" cy="4558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Paradigm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Car()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{}</a:t>
            </a:r>
            <a:endParaRPr sz="1600">
              <a:latin typeface="Verdana"/>
              <a:cs typeface="Verdana"/>
            </a:endParaRPr>
          </a:p>
          <a:p>
            <a:pPr marL="786765" marR="3549650">
              <a:lnSpc>
                <a:spcPct val="100000"/>
              </a:lnSpc>
              <a:spcBef>
                <a:spcPts val="1200"/>
              </a:spcBef>
            </a:pPr>
            <a:r>
              <a:rPr sz="1600" spc="-20" dirty="0">
                <a:latin typeface="Verdana"/>
                <a:cs typeface="Verdana"/>
              </a:rPr>
              <a:t>Car.prototype.color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"red"; </a:t>
            </a:r>
            <a:r>
              <a:rPr sz="1600" spc="-20" dirty="0">
                <a:latin typeface="Verdana"/>
                <a:cs typeface="Verdana"/>
              </a:rPr>
              <a:t>Car.prototype.doors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4;</a:t>
            </a:r>
            <a:endParaRPr sz="1600">
              <a:latin typeface="Verdana"/>
              <a:cs typeface="Verdana"/>
            </a:endParaRPr>
          </a:p>
          <a:p>
            <a:pPr marL="786765" marR="278765">
              <a:lnSpc>
                <a:spcPct val="100000"/>
              </a:lnSpc>
            </a:pPr>
            <a:r>
              <a:rPr sz="1600" spc="-20" dirty="0">
                <a:latin typeface="Verdana"/>
                <a:cs typeface="Verdana"/>
              </a:rPr>
              <a:t>Car.prototype.drivers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Array("Mike",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"Sue"); </a:t>
            </a:r>
            <a:r>
              <a:rPr sz="1600" spc="-20" dirty="0">
                <a:latin typeface="Verdana"/>
                <a:cs typeface="Verdana"/>
              </a:rPr>
              <a:t>Car.prototype.showColor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5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oCar1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Car();</a:t>
            </a:r>
            <a:endParaRPr sz="1600">
              <a:latin typeface="Verdana"/>
              <a:cs typeface="Verdana"/>
            </a:endParaRPr>
          </a:p>
          <a:p>
            <a:pPr marL="786765" marR="357187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oCar2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Car(); oCar1.drivers.push("Matt");</a:t>
            </a:r>
            <a:endParaRPr sz="1600">
              <a:latin typeface="Verdana"/>
              <a:cs typeface="Verdana"/>
            </a:endParaRPr>
          </a:p>
          <a:p>
            <a:pPr marL="786765" marR="1354455">
              <a:lnSpc>
                <a:spcPct val="100000"/>
              </a:lnSpc>
              <a:tabLst>
                <a:tab pos="3194050" algn="l"/>
              </a:tabLst>
            </a:pPr>
            <a:r>
              <a:rPr sz="1600" spc="-10" dirty="0">
                <a:latin typeface="Verdana"/>
                <a:cs typeface="Verdana"/>
              </a:rPr>
              <a:t>alert(oCar1.drivers);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"Mike,Sue,Matt" alert(oCar2.drivers);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"Mike,Sue,Matt"</a:t>
            </a:r>
            <a:endParaRPr sz="16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190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10" dirty="0">
                <a:latin typeface="Verdana"/>
                <a:cs typeface="Verdana"/>
              </a:rPr>
              <a:t> arguments.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shared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without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consequences,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but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objects rarely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meant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shared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across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instances.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Defining</a:t>
            </a:r>
            <a:r>
              <a:rPr spc="-65" dirty="0"/>
              <a:t> </a:t>
            </a:r>
            <a:r>
              <a:rPr dirty="0"/>
              <a:t>Classes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3365500"/>
            <a:chOff x="1136650" y="1898650"/>
            <a:chExt cx="6850380" cy="33655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3352800"/>
            </a:xfrm>
            <a:custGeom>
              <a:avLst/>
              <a:gdLst/>
              <a:ahLst/>
              <a:cxnLst/>
              <a:rect l="l" t="t" r="r" b="b"/>
              <a:pathLst>
                <a:path w="6837680" h="3352800">
                  <a:moveTo>
                    <a:pt x="6837426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6837426" y="33528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3352800"/>
            </a:xfrm>
            <a:custGeom>
              <a:avLst/>
              <a:gdLst/>
              <a:ahLst/>
              <a:cxnLst/>
              <a:rect l="l" t="t" r="r" b="b"/>
              <a:pathLst>
                <a:path w="6837680" h="3352800">
                  <a:moveTo>
                    <a:pt x="0" y="3352800"/>
                  </a:moveTo>
                  <a:lnTo>
                    <a:pt x="6837426" y="33528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33528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658734" cy="483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Hybrid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Constructor/Prototype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Paradigm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Car(sColor,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iDoors,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iMpg)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this.doors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iDoors;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this.drivers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Array("Mike",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"Sue");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5"/>
              </a:spcBef>
            </a:pPr>
            <a:r>
              <a:rPr sz="1600" spc="-20" dirty="0">
                <a:latin typeface="Verdana"/>
                <a:cs typeface="Verdana"/>
              </a:rPr>
              <a:t>Car.prototype.showColor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 marR="3546475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oCar1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Car("red",</a:t>
            </a:r>
            <a:r>
              <a:rPr sz="1600" spc="-25" dirty="0">
                <a:latin typeface="Verdana"/>
                <a:cs typeface="Verdana"/>
              </a:rPr>
              <a:t> 4); </a:t>
            </a:r>
            <a:r>
              <a:rPr sz="1600" dirty="0">
                <a:latin typeface="Verdana"/>
                <a:cs typeface="Verdana"/>
              </a:rPr>
              <a:t>var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oCar2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Car("blue",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3); </a:t>
            </a:r>
            <a:r>
              <a:rPr sz="1600" spc="-10" dirty="0">
                <a:latin typeface="Verdana"/>
                <a:cs typeface="Verdana"/>
              </a:rPr>
              <a:t>oCar1.drivers.push("Matt");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tabLst>
                <a:tab pos="3194050" algn="l"/>
              </a:tabLst>
            </a:pPr>
            <a:r>
              <a:rPr sz="1600" spc="-10" dirty="0">
                <a:latin typeface="Verdana"/>
                <a:cs typeface="Verdana"/>
              </a:rPr>
              <a:t>alert(oCar1.drivers);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"Mike,Sue,Matt"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tabLst>
                <a:tab pos="3193415" algn="l"/>
              </a:tabLst>
            </a:pPr>
            <a:r>
              <a:rPr sz="1600" spc="-10" dirty="0">
                <a:latin typeface="Verdana"/>
                <a:cs typeface="Verdana"/>
              </a:rPr>
              <a:t>alert(oCar2.drivers);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"Mike,Sue"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600">
              <a:latin typeface="Verdana"/>
              <a:cs typeface="Verdana"/>
            </a:endParaRPr>
          </a:p>
          <a:p>
            <a:pPr marL="756285" marR="5080" indent="-287020">
              <a:lnSpc>
                <a:spcPct val="100000"/>
              </a:lnSpc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00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paradigm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nonfunction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paradigm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(methods)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Defining</a:t>
            </a:r>
            <a:r>
              <a:rPr spc="-65" dirty="0"/>
              <a:t> </a:t>
            </a:r>
            <a:r>
              <a:rPr dirty="0"/>
              <a:t>Classes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7210425" cy="2908300"/>
            <a:chOff x="1136650" y="1898650"/>
            <a:chExt cx="7210425" cy="29083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7197725" cy="2895600"/>
            </a:xfrm>
            <a:custGeom>
              <a:avLst/>
              <a:gdLst/>
              <a:ahLst/>
              <a:cxnLst/>
              <a:rect l="l" t="t" r="r" b="b"/>
              <a:pathLst>
                <a:path w="7197725" h="2895600">
                  <a:moveTo>
                    <a:pt x="7197725" y="0"/>
                  </a:moveTo>
                  <a:lnTo>
                    <a:pt x="0" y="0"/>
                  </a:lnTo>
                  <a:lnTo>
                    <a:pt x="0" y="2895600"/>
                  </a:lnTo>
                  <a:lnTo>
                    <a:pt x="7197725" y="2895600"/>
                  </a:lnTo>
                  <a:lnTo>
                    <a:pt x="719772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7197725" cy="2895600"/>
            </a:xfrm>
            <a:custGeom>
              <a:avLst/>
              <a:gdLst/>
              <a:ahLst/>
              <a:cxnLst/>
              <a:rect l="l" t="t" r="r" b="b"/>
              <a:pathLst>
                <a:path w="7197725" h="2895600">
                  <a:moveTo>
                    <a:pt x="0" y="2895600"/>
                  </a:moveTo>
                  <a:lnTo>
                    <a:pt x="7197725" y="2895600"/>
                  </a:lnTo>
                  <a:lnTo>
                    <a:pt x="7197725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904480" cy="4228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Dynamic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Verdana"/>
              <a:cs typeface="Verdana"/>
            </a:endParaRPr>
          </a:p>
          <a:p>
            <a:pPr marL="1071880" marR="4072254" indent="-28511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Car(sColor,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iDoors)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 </a:t>
            </a:r>
            <a:r>
              <a:rPr sz="1600" dirty="0">
                <a:latin typeface="Verdana"/>
                <a:cs typeface="Verdana"/>
              </a:rPr>
              <a:t>this.doors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iDoors;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this.drivers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Array("Mike",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"Sue");</a:t>
            </a:r>
            <a:endParaRPr sz="1600">
              <a:latin typeface="Verdana"/>
              <a:cs typeface="Verdana"/>
            </a:endParaRPr>
          </a:p>
          <a:p>
            <a:pPr marL="1358900" marR="389890" indent="-28702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Verdana"/>
                <a:cs typeface="Verdana"/>
              </a:rPr>
              <a:t>if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(typeof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Car._initialized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==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"undefined")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spc="-20" dirty="0">
                <a:latin typeface="Verdana"/>
                <a:cs typeface="Verdana"/>
              </a:rPr>
              <a:t>Car.prototype.showColor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 </a:t>
            </a:r>
            <a:r>
              <a:rPr sz="1600" spc="-25" dirty="0">
                <a:latin typeface="Verdana"/>
                <a:cs typeface="Verdana"/>
              </a:rPr>
              <a:t>}; </a:t>
            </a:r>
            <a:r>
              <a:rPr sz="1600" spc="-20" dirty="0">
                <a:latin typeface="Verdana"/>
                <a:cs typeface="Verdana"/>
              </a:rPr>
              <a:t>Car._initialized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true;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6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95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flag(_initialized)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determine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bean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assigned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yet.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Practical</a:t>
            </a:r>
            <a:r>
              <a:rPr spc="-55" dirty="0"/>
              <a:t> </a:t>
            </a:r>
            <a:r>
              <a:rPr dirty="0"/>
              <a:t>Example</a:t>
            </a:r>
            <a:r>
              <a:rPr spc="-60" dirty="0"/>
              <a:t> </a:t>
            </a:r>
            <a:r>
              <a:rPr dirty="0">
                <a:latin typeface="Century Gothic"/>
                <a:cs typeface="Century Gothic"/>
              </a:rPr>
              <a:t>–</a:t>
            </a:r>
            <a:r>
              <a:rPr spc="195" dirty="0">
                <a:latin typeface="Century Gothic"/>
                <a:cs typeface="Century Gothic"/>
              </a:rPr>
              <a:t> </a:t>
            </a:r>
            <a:r>
              <a:rPr spc="-10" dirty="0"/>
              <a:t>StringBuffer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6936105" cy="47263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Defining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StringBuffer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StringBuffer()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tabLst>
                <a:tab pos="1870075" algn="l"/>
                <a:tab pos="2892425" algn="l"/>
              </a:tabLst>
            </a:pPr>
            <a:r>
              <a:rPr sz="1800" spc="-10" dirty="0">
                <a:latin typeface="Verdana"/>
                <a:cs typeface="Verdana"/>
              </a:rPr>
              <a:t>this.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string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dirty="0">
                <a:latin typeface="Verdana"/>
                <a:cs typeface="Verdana"/>
              </a:rPr>
              <a:t>=</a:t>
            </a:r>
            <a:r>
              <a:rPr sz="1800" u="none" spc="-35" dirty="0">
                <a:latin typeface="Verdana"/>
                <a:cs typeface="Verdana"/>
              </a:rPr>
              <a:t> </a:t>
            </a:r>
            <a:r>
              <a:rPr sz="1800" u="none" dirty="0">
                <a:latin typeface="Verdana"/>
                <a:cs typeface="Verdana"/>
              </a:rPr>
              <a:t>new</a:t>
            </a:r>
            <a:r>
              <a:rPr sz="1800" u="none" spc="-20" dirty="0">
                <a:latin typeface="Verdana"/>
                <a:cs typeface="Verdana"/>
              </a:rPr>
              <a:t> </a:t>
            </a:r>
            <a:r>
              <a:rPr sz="1800" u="none" spc="-10" dirty="0">
                <a:latin typeface="Verdana"/>
                <a:cs typeface="Verdana"/>
              </a:rPr>
              <a:t>Array();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StringBuffer.prototype.append</a:t>
            </a:r>
            <a:r>
              <a:rPr sz="1800" dirty="0">
                <a:latin typeface="Verdana"/>
                <a:cs typeface="Verdana"/>
              </a:rPr>
              <a:t> = function (str)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spcBef>
                <a:spcPts val="5"/>
              </a:spcBef>
              <a:tabLst>
                <a:tab pos="1870075" algn="l"/>
                <a:tab pos="2934970" algn="l"/>
              </a:tabLst>
            </a:pPr>
            <a:r>
              <a:rPr sz="1800" spc="-10" dirty="0">
                <a:latin typeface="Verdana"/>
                <a:cs typeface="Verdana"/>
              </a:rPr>
              <a:t>this.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strings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.push(str);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  <a:p>
            <a:pPr marL="755650" marR="79756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  <a:tab pos="2660650" algn="l"/>
                <a:tab pos="3725545" algn="l"/>
              </a:tabLst>
            </a:pPr>
            <a:r>
              <a:rPr sz="1800" spc="-10" dirty="0">
                <a:latin typeface="Verdana"/>
                <a:cs typeface="Verdana"/>
              </a:rPr>
              <a:t>StringBuffer.prototype.toString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this.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strings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u="none" spc="-10" dirty="0">
                <a:latin typeface="Verdana"/>
                <a:cs typeface="Verdana"/>
              </a:rPr>
              <a:t>.join("");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Testing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code:</a:t>
            </a:r>
            <a:endParaRPr sz="2000">
              <a:latin typeface="Verdana"/>
              <a:cs typeface="Verdana"/>
            </a:endParaRPr>
          </a:p>
          <a:p>
            <a:pPr marL="755015" marR="2440940" lvl="1" indent="-285750">
              <a:lnSpc>
                <a:spcPct val="995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buffer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StringBuffer(); 	</a:t>
            </a:r>
            <a:r>
              <a:rPr sz="1800" dirty="0">
                <a:latin typeface="Verdana"/>
                <a:cs typeface="Verdana"/>
              </a:rPr>
              <a:t>buffer.append(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hello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r>
              <a:rPr sz="1800" spc="-25" dirty="0">
                <a:latin typeface="Verdana"/>
                <a:cs typeface="Verdana"/>
              </a:rPr>
              <a:t>); 	</a:t>
            </a:r>
            <a:r>
              <a:rPr sz="1800" spc="-10" dirty="0">
                <a:latin typeface="Verdana"/>
                <a:cs typeface="Verdana"/>
              </a:rPr>
              <a:t>buffer.append(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world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buffer.toString();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hello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world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Modifying</a:t>
            </a:r>
            <a:r>
              <a:rPr spc="-9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932420" cy="46532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Creating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New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Number.prototype.toHexString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return.this.toString(16);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15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iNum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15;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spc="-10" dirty="0">
                <a:latin typeface="Verdana"/>
                <a:cs typeface="Verdana"/>
              </a:rPr>
              <a:t>alert(iNum.toHexString());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outputs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F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Redefining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Existing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Function</a:t>
            </a:r>
            <a:r>
              <a:rPr sz="1800" spc="-105" dirty="0">
                <a:latin typeface="Century Gothic"/>
                <a:cs typeface="Century Gothic"/>
              </a:rPr>
              <a:t>‟</a:t>
            </a:r>
            <a:r>
              <a:rPr sz="1800" spc="-105" dirty="0">
                <a:latin typeface="Verdana"/>
                <a:cs typeface="Verdana"/>
              </a:rPr>
              <a:t>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toString()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normally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code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  <a:p>
            <a:pPr marL="755650" marR="2289175" lvl="1" indent="-285750">
              <a:lnSpc>
                <a:spcPts val="2140"/>
              </a:lnSpc>
              <a:spcBef>
                <a:spcPts val="5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spc="-10" dirty="0">
                <a:latin typeface="Verdana"/>
                <a:cs typeface="Verdana"/>
              </a:rPr>
              <a:t>Function.prototype.toString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code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hidden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1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sayHi()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Hi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alert(sayHi.toString());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code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hidden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38595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Masquerading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6650" y="1898650"/>
            <a:ext cx="5803900" cy="4584700"/>
            <a:chOff x="1136650" y="1898650"/>
            <a:chExt cx="5803900" cy="4584700"/>
          </a:xfrm>
        </p:grpSpPr>
        <p:sp>
          <p:nvSpPr>
            <p:cNvPr id="5" name="object 5"/>
            <p:cNvSpPr/>
            <p:nvPr/>
          </p:nvSpPr>
          <p:spPr>
            <a:xfrm>
              <a:off x="1143000" y="1905000"/>
              <a:ext cx="5791200" cy="4572000"/>
            </a:xfrm>
            <a:custGeom>
              <a:avLst/>
              <a:gdLst/>
              <a:ahLst/>
              <a:cxnLst/>
              <a:rect l="l" t="t" r="r" b="b"/>
              <a:pathLst>
                <a:path w="5791200" h="4572000">
                  <a:moveTo>
                    <a:pt x="5791200" y="0"/>
                  </a:moveTo>
                  <a:lnTo>
                    <a:pt x="0" y="0"/>
                  </a:lnTo>
                  <a:lnTo>
                    <a:pt x="0" y="4572000"/>
                  </a:lnTo>
                  <a:lnTo>
                    <a:pt x="5791200" y="4572000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000" y="1905000"/>
              <a:ext cx="5791200" cy="4572000"/>
            </a:xfrm>
            <a:custGeom>
              <a:avLst/>
              <a:gdLst/>
              <a:ahLst/>
              <a:cxnLst/>
              <a:rect l="l" t="t" r="r" b="b"/>
              <a:pathLst>
                <a:path w="5791200" h="4572000">
                  <a:moveTo>
                    <a:pt x="0" y="4572000"/>
                  </a:moveTo>
                  <a:lnTo>
                    <a:pt x="5791200" y="4572000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45720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10386" y="2071242"/>
            <a:ext cx="5401310" cy="4232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8003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ClassA(sColor)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R="2820035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</a:t>
            </a:r>
            <a:endParaRPr sz="1600">
              <a:latin typeface="Verdana"/>
              <a:cs typeface="Verdana"/>
            </a:endParaRPr>
          </a:p>
          <a:p>
            <a:pPr marL="151130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this.sayColor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-25" dirty="0">
                <a:latin typeface="Verdana"/>
                <a:cs typeface="Verdana"/>
              </a:rPr>
              <a:t> };</a:t>
            </a:r>
            <a:endParaRPr sz="1600">
              <a:latin typeface="Verdana"/>
              <a:cs typeface="Verdana"/>
            </a:endParaRPr>
          </a:p>
          <a:p>
            <a:pPr marR="5238750" algn="ctr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291465" marR="1976120" indent="-2794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ClassB(sColor,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sName)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b="1" dirty="0">
                <a:latin typeface="Verdana"/>
                <a:cs typeface="Verdana"/>
              </a:rPr>
              <a:t>this.newMethod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=</a:t>
            </a:r>
            <a:r>
              <a:rPr sz="1600" b="1" spc="-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ClassA; this.newMethod(sColor); </a:t>
            </a:r>
            <a:r>
              <a:rPr sz="1600" b="1" dirty="0">
                <a:latin typeface="Verdana"/>
                <a:cs typeface="Verdana"/>
              </a:rPr>
              <a:t>delete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this.newMethod; </a:t>
            </a:r>
            <a:r>
              <a:rPr sz="1600" dirty="0">
                <a:latin typeface="Verdana"/>
                <a:cs typeface="Verdana"/>
              </a:rPr>
              <a:t>this.name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sName;</a:t>
            </a:r>
            <a:endParaRPr sz="1600">
              <a:latin typeface="Verdana"/>
              <a:cs typeface="Verdana"/>
            </a:endParaRPr>
          </a:p>
          <a:p>
            <a:pPr marL="2971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this.sayName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alert(this.name);</a:t>
            </a:r>
            <a:r>
              <a:rPr sz="1600" spc="-25" dirty="0">
                <a:latin typeface="Verdana"/>
                <a:cs typeface="Verdana"/>
              </a:rPr>
              <a:t> };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objA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ClassA("red");</a:t>
            </a:r>
            <a:endParaRPr sz="1600">
              <a:latin typeface="Verdana"/>
              <a:cs typeface="Verdana"/>
            </a:endParaRPr>
          </a:p>
          <a:p>
            <a:pPr marL="12700" marR="982344">
              <a:lnSpc>
                <a:spcPct val="100000"/>
              </a:lnSpc>
              <a:tabLst>
                <a:tab pos="1843405" algn="l"/>
              </a:tabLst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objB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ClassB("blue",</a:t>
            </a:r>
            <a:r>
              <a:rPr sz="1600" spc="-10" dirty="0">
                <a:latin typeface="Verdana"/>
                <a:cs typeface="Verdana"/>
              </a:rPr>
              <a:t> "Nicholas"); objA.sayColor();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5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//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outputs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“red” objB.sayColor();</a:t>
            </a:r>
            <a:r>
              <a:rPr sz="1600" dirty="0">
                <a:latin typeface="Verdana"/>
                <a:cs typeface="Verdana"/>
              </a:rPr>
              <a:t>	//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outputs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“blue” </a:t>
            </a:r>
            <a:r>
              <a:rPr sz="1600" dirty="0">
                <a:latin typeface="Verdana"/>
                <a:cs typeface="Verdana"/>
              </a:rPr>
              <a:t>objB.sayName();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//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outputs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“Nicholas”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7014209" y="1937130"/>
            <a:ext cx="1935480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299085" algn="l"/>
              </a:tabLst>
            </a:pPr>
            <a:r>
              <a:rPr sz="1800" spc="-10" dirty="0">
                <a:latin typeface="Verdana"/>
                <a:cs typeface="Verdana"/>
              </a:rPr>
              <a:t>Object masquerading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10" dirty="0">
                <a:latin typeface="Verdana"/>
                <a:cs typeface="Verdana"/>
              </a:rPr>
              <a:t> intended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original ECMAScript.</a:t>
            </a:r>
            <a:endParaRPr sz="18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299085" algn="l"/>
              </a:tabLst>
            </a:pPr>
            <a:r>
              <a:rPr sz="1800" spc="-10" dirty="0">
                <a:latin typeface="Verdana"/>
                <a:cs typeface="Verdana"/>
              </a:rPr>
              <a:t>Object masquerading supports </a:t>
            </a:r>
            <a:r>
              <a:rPr sz="1800" i="1" spc="-10" dirty="0">
                <a:latin typeface="Verdana"/>
                <a:cs typeface="Verdana"/>
              </a:rPr>
              <a:t>multiple inheritance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2755900"/>
            <a:chOff x="1136650" y="1898650"/>
            <a:chExt cx="6850380" cy="27559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2743200"/>
            </a:xfrm>
            <a:custGeom>
              <a:avLst/>
              <a:gdLst/>
              <a:ahLst/>
              <a:cxnLst/>
              <a:rect l="l" t="t" r="r" b="b"/>
              <a:pathLst>
                <a:path w="6837680" h="2743200">
                  <a:moveTo>
                    <a:pt x="6837426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6837426" y="27432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2743200"/>
            </a:xfrm>
            <a:custGeom>
              <a:avLst/>
              <a:gdLst/>
              <a:ahLst/>
              <a:cxnLst/>
              <a:rect l="l" t="t" r="r" b="b"/>
              <a:pathLst>
                <a:path w="6837680" h="2743200">
                  <a:moveTo>
                    <a:pt x="0" y="2743200"/>
                  </a:moveTo>
                  <a:lnTo>
                    <a:pt x="6837426" y="27432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3240" y="1400301"/>
            <a:ext cx="8076565" cy="4504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Masquerading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–</a:t>
            </a:r>
            <a:r>
              <a:rPr sz="2000" spc="114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call()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R="3880485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ClassA(sColor)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R="392112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</a:t>
            </a:r>
            <a:endParaRPr sz="1600">
              <a:latin typeface="Verdana"/>
              <a:cs typeface="Verdana"/>
            </a:endParaRPr>
          </a:p>
          <a:p>
            <a:pPr marR="941705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this.sayColor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-25" dirty="0">
                <a:latin typeface="Verdana"/>
                <a:cs typeface="Verdana"/>
              </a:rPr>
              <a:t> };</a:t>
            </a:r>
            <a:endParaRPr sz="1600">
              <a:latin typeface="Verdana"/>
              <a:cs typeface="Verdana"/>
            </a:endParaRPr>
          </a:p>
          <a:p>
            <a:pPr marR="6339840" algn="ctr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084580" marR="3863975" indent="-285115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ClassB(sColor,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sName)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b="1" spc="-10" dirty="0">
                <a:latin typeface="Verdana"/>
                <a:cs typeface="Verdana"/>
              </a:rPr>
              <a:t>ClassA.call(this,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sColor); </a:t>
            </a:r>
            <a:r>
              <a:rPr sz="1600" dirty="0">
                <a:latin typeface="Verdana"/>
                <a:cs typeface="Verdana"/>
              </a:rPr>
              <a:t>this.name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sName;</a:t>
            </a:r>
            <a:endParaRPr sz="1600">
              <a:latin typeface="Verdana"/>
              <a:cs typeface="Verdana"/>
            </a:endParaRPr>
          </a:p>
          <a:p>
            <a:pPr marL="1084580">
              <a:lnSpc>
                <a:spcPct val="100000"/>
              </a:lnSpc>
              <a:tabLst>
                <a:tab pos="4199255" algn="l"/>
              </a:tabLst>
            </a:pPr>
            <a:r>
              <a:rPr sz="1600" dirty="0">
                <a:latin typeface="Verdana"/>
                <a:cs typeface="Verdana"/>
              </a:rPr>
              <a:t>this.sayName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r>
              <a:rPr sz="1600" dirty="0">
                <a:latin typeface="Verdana"/>
                <a:cs typeface="Verdana"/>
              </a:rPr>
              <a:t>	alert(this.name);</a:t>
            </a:r>
            <a:r>
              <a:rPr sz="1600" spc="-11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99465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600">
              <a:latin typeface="Verdana"/>
              <a:cs typeface="Verdana"/>
            </a:endParaRPr>
          </a:p>
          <a:p>
            <a:pPr marL="767715" marR="43180" lvl="1" indent="-285750">
              <a:lnSpc>
                <a:spcPct val="100000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689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</a:t>
            </a:r>
            <a:r>
              <a:rPr sz="1800" baseline="25462" dirty="0">
                <a:latin typeface="Verdana"/>
                <a:cs typeface="Verdana"/>
              </a:rPr>
              <a:t>rd</a:t>
            </a:r>
            <a:r>
              <a:rPr sz="1800" spc="284" baseline="25462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edition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object: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call()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apply()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67715" marR="527685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689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all 	</a:t>
            </a:r>
            <a:r>
              <a:rPr sz="1800" dirty="0">
                <a:latin typeface="Verdana"/>
                <a:cs typeface="Verdana"/>
              </a:rPr>
              <a:t>other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passed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directly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itself.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3060700"/>
            <a:chOff x="1136650" y="1898650"/>
            <a:chExt cx="6850380" cy="30607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3048000"/>
            </a:xfrm>
            <a:custGeom>
              <a:avLst/>
              <a:gdLst/>
              <a:ahLst/>
              <a:cxnLst/>
              <a:rect l="l" t="t" r="r" b="b"/>
              <a:pathLst>
                <a:path w="6837680" h="3048000">
                  <a:moveTo>
                    <a:pt x="6837426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6837426" y="30480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3048000"/>
            </a:xfrm>
            <a:custGeom>
              <a:avLst/>
              <a:gdLst/>
              <a:ahLst/>
              <a:cxnLst/>
              <a:rect l="l" t="t" r="r" b="b"/>
              <a:pathLst>
                <a:path w="6837680" h="3048000">
                  <a:moveTo>
                    <a:pt x="0" y="3048000"/>
                  </a:moveTo>
                  <a:lnTo>
                    <a:pt x="6837426" y="30480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30480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0301"/>
            <a:ext cx="7680325" cy="4833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Masquerading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–</a:t>
            </a:r>
            <a:r>
              <a:rPr sz="2000" spc="114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apply()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R="3510279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ClassA(sColor)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R="355028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</a:t>
            </a:r>
            <a:endParaRPr sz="1600">
              <a:latin typeface="Verdana"/>
              <a:cs typeface="Verdana"/>
            </a:endParaRPr>
          </a:p>
          <a:p>
            <a:pPr marR="570865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this.sayColor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-25" dirty="0">
                <a:latin typeface="Verdana"/>
                <a:cs typeface="Verdana"/>
              </a:rPr>
              <a:t> };</a:t>
            </a:r>
            <a:endParaRPr sz="1600">
              <a:latin typeface="Verdana"/>
              <a:cs typeface="Verdana"/>
            </a:endParaRPr>
          </a:p>
          <a:p>
            <a:pPr marR="5969635" algn="ctr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ClassB(sColor,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sName)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ClassA.apply(this,</a:t>
            </a:r>
            <a:r>
              <a:rPr sz="1600" b="1" spc="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new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Array(sColor));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b="1" dirty="0">
                <a:latin typeface="Verdana"/>
                <a:cs typeface="Verdana"/>
              </a:rPr>
              <a:t>//</a:t>
            </a:r>
            <a:r>
              <a:rPr sz="1600" b="1" spc="-7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or</a:t>
            </a:r>
            <a:r>
              <a:rPr sz="1600" b="1" spc="-65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ClassA.apply(this,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arguments);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sName;</a:t>
            </a:r>
            <a:endParaRPr sz="1600">
              <a:latin typeface="Verdana"/>
              <a:cs typeface="Verdana"/>
            </a:endParaRPr>
          </a:p>
          <a:p>
            <a:pPr marL="1071880">
              <a:lnSpc>
                <a:spcPct val="100000"/>
              </a:lnSpc>
              <a:tabLst>
                <a:tab pos="4186554" algn="l"/>
              </a:tabLst>
            </a:pPr>
            <a:r>
              <a:rPr sz="1600" dirty="0">
                <a:latin typeface="Verdana"/>
                <a:cs typeface="Verdana"/>
              </a:rPr>
              <a:t>this.sayName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r>
              <a:rPr sz="1600" dirty="0">
                <a:latin typeface="Verdana"/>
                <a:cs typeface="Verdana"/>
              </a:rPr>
              <a:t>	alert(this.name);</a:t>
            </a:r>
            <a:r>
              <a:rPr sz="1600" spc="-114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600">
              <a:latin typeface="Verdana"/>
              <a:cs typeface="Verdana"/>
            </a:endParaRPr>
          </a:p>
          <a:p>
            <a:pPr marL="755015" marR="5080" lvl="1" indent="-285750">
              <a:lnSpc>
                <a:spcPct val="100000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apply()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takes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arguments: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be 	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 passed 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spc="-10" dirty="0"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You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arguments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4356100"/>
            <a:chOff x="1136650" y="1898650"/>
            <a:chExt cx="6850380" cy="43561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4343400"/>
            </a:xfrm>
            <a:custGeom>
              <a:avLst/>
              <a:gdLst/>
              <a:ahLst/>
              <a:cxnLst/>
              <a:rect l="l" t="t" r="r" b="b"/>
              <a:pathLst>
                <a:path w="6837680" h="4343400">
                  <a:moveTo>
                    <a:pt x="6837426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6837426" y="43434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4343400"/>
            </a:xfrm>
            <a:custGeom>
              <a:avLst/>
              <a:gdLst/>
              <a:ahLst/>
              <a:cxnLst/>
              <a:rect l="l" t="t" r="r" b="b"/>
              <a:pathLst>
                <a:path w="6837680" h="4343400">
                  <a:moveTo>
                    <a:pt x="0" y="4343400"/>
                  </a:moveTo>
                  <a:lnTo>
                    <a:pt x="6837426" y="43434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252970" cy="4657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Chaining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ClassA()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{}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ClassA.prototype.color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"red";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ClassA.prototype.sayColor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 marR="260477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ClassB()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{} </a:t>
            </a:r>
            <a:r>
              <a:rPr sz="1600" b="1" spc="-10" dirty="0">
                <a:latin typeface="Verdana"/>
                <a:cs typeface="Verdana"/>
              </a:rPr>
              <a:t>ClassB.prototype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=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new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ClassA(); </a:t>
            </a:r>
            <a:r>
              <a:rPr sz="1600" spc="-10" dirty="0">
                <a:latin typeface="Verdana"/>
                <a:cs typeface="Verdana"/>
              </a:rPr>
              <a:t>ClassB.prototype.name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25" dirty="0">
                <a:latin typeface="Verdana"/>
                <a:cs typeface="Verdana"/>
              </a:rPr>
              <a:t> "";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Verdana"/>
                <a:cs typeface="Verdana"/>
              </a:rPr>
              <a:t>ClassB.prototype.sayName</a:t>
            </a:r>
            <a:r>
              <a:rPr sz="1600" dirty="0">
                <a:latin typeface="Verdana"/>
                <a:cs typeface="Verdana"/>
              </a:rPr>
              <a:t> 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alert(this.name);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 marR="38608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objA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ClassA(); </a:t>
            </a:r>
            <a:r>
              <a:rPr sz="1600" dirty="0">
                <a:latin typeface="Verdana"/>
                <a:cs typeface="Verdana"/>
              </a:rPr>
              <a:t>var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objB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ClassB(); </a:t>
            </a:r>
            <a:r>
              <a:rPr sz="1600" dirty="0">
                <a:latin typeface="Verdana"/>
                <a:cs typeface="Verdana"/>
              </a:rPr>
              <a:t>objA.color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"red"; </a:t>
            </a:r>
            <a:r>
              <a:rPr sz="1600" dirty="0">
                <a:latin typeface="Verdana"/>
                <a:cs typeface="Verdana"/>
              </a:rPr>
              <a:t>objB.color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"blue"; </a:t>
            </a:r>
            <a:r>
              <a:rPr sz="1600" dirty="0">
                <a:latin typeface="Verdana"/>
                <a:cs typeface="Verdana"/>
              </a:rPr>
              <a:t>objB.name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"Nicholas";</a:t>
            </a:r>
            <a:endParaRPr sz="1600">
              <a:latin typeface="Verdana"/>
              <a:cs typeface="Verdana"/>
            </a:endParaRPr>
          </a:p>
          <a:p>
            <a:pPr marL="786765" marR="2576195">
              <a:lnSpc>
                <a:spcPct val="100000"/>
              </a:lnSpc>
              <a:tabLst>
                <a:tab pos="2618105" algn="l"/>
              </a:tabLst>
            </a:pPr>
            <a:r>
              <a:rPr sz="1600" spc="-10" dirty="0">
                <a:latin typeface="Verdana"/>
                <a:cs typeface="Verdana"/>
              </a:rPr>
              <a:t>objA.sayColor();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“red” </a:t>
            </a:r>
            <a:r>
              <a:rPr sz="1600" spc="-10" dirty="0">
                <a:latin typeface="Verdana"/>
                <a:cs typeface="Verdana"/>
              </a:rPr>
              <a:t>objB.sayColor();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“blue” </a:t>
            </a:r>
            <a:r>
              <a:rPr sz="1600" dirty="0">
                <a:latin typeface="Verdana"/>
                <a:cs typeface="Verdana"/>
              </a:rPr>
              <a:t>objB.sayName();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//outputs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“Nicholas”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955915" cy="373887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Prototype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Chaining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(continued)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chaining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inheritance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actually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intended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for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ECMAScript.</a:t>
            </a:r>
            <a:endParaRPr sz="1800">
              <a:latin typeface="Verdana"/>
              <a:cs typeface="Verdana"/>
            </a:endParaRPr>
          </a:p>
          <a:p>
            <a:pPr marL="755015" marR="511175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properties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will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be 	</a:t>
            </a:r>
            <a:r>
              <a:rPr sz="1800" dirty="0">
                <a:latin typeface="Verdana"/>
                <a:cs typeface="Verdana"/>
              </a:rPr>
              <a:t>passed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instances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class.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No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parameters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passed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chaining.</a:t>
            </a:r>
            <a:endParaRPr sz="1800">
              <a:latin typeface="Verdana"/>
              <a:cs typeface="Verdana"/>
            </a:endParaRPr>
          </a:p>
          <a:p>
            <a:pPr marL="755015" marR="72517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instanceof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operator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works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rather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unique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way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in 	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chaining.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chaining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support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inheritance.</a:t>
            </a:r>
            <a:endParaRPr sz="1800">
              <a:latin typeface="Verdana"/>
              <a:cs typeface="Verdana"/>
            </a:endParaRPr>
          </a:p>
          <a:p>
            <a:pPr marL="755015" marR="989965" lvl="1" indent="-285750">
              <a:lnSpc>
                <a:spcPts val="2140"/>
              </a:lnSpc>
              <a:spcBef>
                <a:spcPts val="5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Because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unique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nature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prototype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object, 	</a:t>
            </a:r>
            <a:r>
              <a:rPr sz="1800" dirty="0">
                <a:latin typeface="Verdana"/>
                <a:cs typeface="Verdana"/>
              </a:rPr>
              <a:t>inheritance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45" dirty="0">
                <a:latin typeface="Verdana"/>
                <a:cs typeface="Verdana"/>
              </a:rPr>
              <a:t>doesn</a:t>
            </a:r>
            <a:r>
              <a:rPr sz="1800" spc="-145" dirty="0">
                <a:latin typeface="Century Gothic"/>
                <a:cs typeface="Century Gothic"/>
              </a:rPr>
              <a:t>‟</a:t>
            </a:r>
            <a:r>
              <a:rPr sz="1800" spc="-145" dirty="0">
                <a:latin typeface="Verdana"/>
                <a:cs typeface="Verdana"/>
              </a:rPr>
              <a:t>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work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dynamic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prototyping.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spc="-13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650" y="1898650"/>
            <a:ext cx="6850380" cy="4660900"/>
            <a:chOff x="1136650" y="1898650"/>
            <a:chExt cx="6850380" cy="4660900"/>
          </a:xfrm>
        </p:grpSpPr>
        <p:sp>
          <p:nvSpPr>
            <p:cNvPr id="4" name="object 4"/>
            <p:cNvSpPr/>
            <p:nvPr/>
          </p:nvSpPr>
          <p:spPr>
            <a:xfrm>
              <a:off x="1143000" y="1905000"/>
              <a:ext cx="6837680" cy="4648200"/>
            </a:xfrm>
            <a:custGeom>
              <a:avLst/>
              <a:gdLst/>
              <a:ahLst/>
              <a:cxnLst/>
              <a:rect l="l" t="t" r="r" b="b"/>
              <a:pathLst>
                <a:path w="6837680" h="4648200">
                  <a:moveTo>
                    <a:pt x="6837426" y="0"/>
                  </a:moveTo>
                  <a:lnTo>
                    <a:pt x="0" y="0"/>
                  </a:lnTo>
                  <a:lnTo>
                    <a:pt x="0" y="4648200"/>
                  </a:lnTo>
                  <a:lnTo>
                    <a:pt x="6837426" y="4648200"/>
                  </a:lnTo>
                  <a:lnTo>
                    <a:pt x="683742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1905000"/>
              <a:ext cx="6837680" cy="4648200"/>
            </a:xfrm>
            <a:custGeom>
              <a:avLst/>
              <a:gdLst/>
              <a:ahLst/>
              <a:cxnLst/>
              <a:rect l="l" t="t" r="r" b="b"/>
              <a:pathLst>
                <a:path w="6837680" h="4648200">
                  <a:moveTo>
                    <a:pt x="0" y="4648200"/>
                  </a:moveTo>
                  <a:lnTo>
                    <a:pt x="6837426" y="4648200"/>
                  </a:lnTo>
                  <a:lnTo>
                    <a:pt x="6837426" y="0"/>
                  </a:lnTo>
                  <a:lnTo>
                    <a:pt x="0" y="0"/>
                  </a:lnTo>
                  <a:lnTo>
                    <a:pt x="0" y="4648200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401826"/>
            <a:ext cx="7675245" cy="4963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Hybrid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Method: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Masquerading/Prototype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Chaining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Verdana"/>
              <a:cs typeface="Verdana"/>
            </a:endParaRPr>
          </a:p>
          <a:p>
            <a:pPr marR="3505200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ClassA(sColor)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R="3545840" algn="ctr">
              <a:lnSpc>
                <a:spcPct val="100000"/>
              </a:lnSpc>
            </a:pPr>
            <a:r>
              <a:rPr sz="1600" dirty="0">
                <a:latin typeface="Verdana"/>
                <a:cs typeface="Verdana"/>
              </a:rPr>
              <a:t>this.color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sColor;</a:t>
            </a:r>
            <a:endParaRPr sz="1600">
              <a:latin typeface="Verdana"/>
              <a:cs typeface="Verdana"/>
            </a:endParaRPr>
          </a:p>
          <a:p>
            <a:pPr marR="5964555" algn="ctr">
              <a:lnSpc>
                <a:spcPct val="100000"/>
              </a:lnSpc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Verdana"/>
                <a:cs typeface="Verdana"/>
              </a:rPr>
              <a:t>ClassA.prototype.sayColor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alert(this.color);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1071880" marR="3475990" indent="-285115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ClassB(sColor,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sName)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r>
              <a:rPr sz="1600" b="1" spc="-10" dirty="0">
                <a:latin typeface="Verdana"/>
                <a:cs typeface="Verdana"/>
              </a:rPr>
              <a:t>ClassA.call(this,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sColor); </a:t>
            </a:r>
            <a:r>
              <a:rPr sz="1600" dirty="0">
                <a:latin typeface="Verdana"/>
                <a:cs typeface="Verdana"/>
              </a:rPr>
              <a:t>this.name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sName;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0"/>
              </a:spcBef>
            </a:pPr>
            <a:r>
              <a:rPr sz="1600" b="1" spc="-10" dirty="0">
                <a:latin typeface="Verdana"/>
                <a:cs typeface="Verdana"/>
              </a:rPr>
              <a:t>ClassB.prototype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=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new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ClassA();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ClassB.prototype.sayName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function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()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{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alert(this.name);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};</a:t>
            </a:r>
            <a:endParaRPr sz="1600">
              <a:latin typeface="Verdana"/>
              <a:cs typeface="Verdana"/>
            </a:endParaRPr>
          </a:p>
          <a:p>
            <a:pPr marL="786765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objA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ClassA("red");</a:t>
            </a:r>
            <a:endParaRPr sz="1600">
              <a:latin typeface="Verdana"/>
              <a:cs typeface="Verdana"/>
            </a:endParaRPr>
          </a:p>
          <a:p>
            <a:pPr marL="786765" marR="2482215">
              <a:lnSpc>
                <a:spcPct val="100000"/>
              </a:lnSpc>
              <a:tabLst>
                <a:tab pos="2618105" algn="l"/>
              </a:tabLst>
            </a:pPr>
            <a:r>
              <a:rPr sz="1600" dirty="0">
                <a:latin typeface="Verdana"/>
                <a:cs typeface="Verdana"/>
              </a:rPr>
              <a:t>var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objB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new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ClassB("blue",</a:t>
            </a:r>
            <a:r>
              <a:rPr sz="1600" spc="-10" dirty="0">
                <a:latin typeface="Verdana"/>
                <a:cs typeface="Verdana"/>
              </a:rPr>
              <a:t> "Nicholas"); objA.sayColor();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spc="-10" dirty="0">
                <a:latin typeface="Verdana"/>
                <a:cs typeface="Verdana"/>
              </a:rPr>
              <a:t>//outputs”red” objB.sayColor();</a:t>
            </a:r>
            <a:r>
              <a:rPr sz="1600" dirty="0">
                <a:latin typeface="Verdana"/>
                <a:cs typeface="Verdana"/>
              </a:rPr>
              <a:t>	//outputs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“blue” </a:t>
            </a:r>
            <a:r>
              <a:rPr sz="1600" dirty="0">
                <a:latin typeface="Verdana"/>
                <a:cs typeface="Verdana"/>
              </a:rPr>
              <a:t>objB.sayName();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//outputs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“Nicholas”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Practical</a:t>
            </a:r>
            <a:r>
              <a:rPr spc="-55" dirty="0"/>
              <a:t> </a:t>
            </a:r>
            <a:r>
              <a:rPr dirty="0"/>
              <a:t>Example</a:t>
            </a:r>
            <a:r>
              <a:rPr spc="-6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spc="-10" dirty="0"/>
              <a:t>Polygon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5653405" cy="500380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Creating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class: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Polygon()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Polygon(iSides)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tabLst>
                <a:tab pos="2321560" algn="l"/>
              </a:tabLst>
            </a:pPr>
            <a:r>
              <a:rPr sz="1800" spc="-10" dirty="0">
                <a:latin typeface="Verdana"/>
                <a:cs typeface="Verdana"/>
              </a:rPr>
              <a:t>this.sides</a:t>
            </a:r>
            <a:r>
              <a:rPr sz="1800" dirty="0">
                <a:latin typeface="Verdana"/>
                <a:cs typeface="Verdana"/>
              </a:rPr>
              <a:t>	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iSides;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Polygon.prototype.getArea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0;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1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Creating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subclass: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Triangle()</a:t>
            </a:r>
            <a:endParaRPr sz="2000">
              <a:latin typeface="Verdana"/>
              <a:cs typeface="Verdana"/>
            </a:endParaRPr>
          </a:p>
          <a:p>
            <a:pPr marL="755650" marR="93726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Triangle(iBase,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iHeight)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Polygon.call(this,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3);</a:t>
            </a:r>
            <a:endParaRPr sz="1800">
              <a:latin typeface="Verdana"/>
              <a:cs typeface="Verdana"/>
            </a:endParaRPr>
          </a:p>
          <a:p>
            <a:pPr marL="1079500" marR="2078989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this.base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iBase; </a:t>
            </a:r>
            <a:r>
              <a:rPr sz="1800" dirty="0">
                <a:latin typeface="Verdana"/>
                <a:cs typeface="Verdana"/>
              </a:rPr>
              <a:t>this.height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iHeight;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Triangle.prototype.getArea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0.5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this.base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this.height;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Practical</a:t>
            </a:r>
            <a:r>
              <a:rPr spc="-55" dirty="0"/>
              <a:t> </a:t>
            </a:r>
            <a:r>
              <a:rPr dirty="0"/>
              <a:t>Example</a:t>
            </a:r>
            <a:r>
              <a:rPr spc="-6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spc="-10" dirty="0"/>
              <a:t>Polygon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339743"/>
            <a:ext cx="5858510" cy="46196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Creating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subclass: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Rectangle()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05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Rectangle(iLength,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iWidth)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 marR="2247900">
              <a:lnSpc>
                <a:spcPts val="1939"/>
              </a:lnSpc>
              <a:spcBef>
                <a:spcPts val="140"/>
              </a:spcBef>
            </a:pPr>
            <a:r>
              <a:rPr sz="1800" dirty="0">
                <a:latin typeface="Verdana"/>
                <a:cs typeface="Verdana"/>
              </a:rPr>
              <a:t>Polygon.call(this,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4); </a:t>
            </a:r>
            <a:r>
              <a:rPr sz="1800" dirty="0">
                <a:latin typeface="Verdana"/>
                <a:cs typeface="Verdana"/>
              </a:rPr>
              <a:t>this.length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iLength; </a:t>
            </a:r>
            <a:r>
              <a:rPr sz="1800" dirty="0">
                <a:latin typeface="Verdana"/>
                <a:cs typeface="Verdana"/>
              </a:rPr>
              <a:t>this.width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iWidth;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1925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5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Rectangle.prototype.getArea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this.length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this.width;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Testing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code: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050"/>
              </a:lnSpc>
              <a:spcBef>
                <a:spcPts val="22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triangle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Triangle(12,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4);</a:t>
            </a:r>
            <a:endParaRPr sz="1800">
              <a:latin typeface="Verdana"/>
              <a:cs typeface="Verdana"/>
            </a:endParaRPr>
          </a:p>
          <a:p>
            <a:pPr marL="756285" marR="495300">
              <a:lnSpc>
                <a:spcPts val="1920"/>
              </a:lnSpc>
              <a:spcBef>
                <a:spcPts val="155"/>
              </a:spcBef>
              <a:tabLst>
                <a:tab pos="3691254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rectangle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Rectangle(22,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10); </a:t>
            </a:r>
            <a:r>
              <a:rPr sz="1800" spc="-10" dirty="0">
                <a:latin typeface="Verdana"/>
                <a:cs typeface="Verdana"/>
              </a:rPr>
              <a:t>alert(triangle.sides);</a:t>
            </a:r>
            <a:r>
              <a:rPr sz="1800" dirty="0">
                <a:latin typeface="Verdana"/>
                <a:cs typeface="Verdana"/>
              </a:rPr>
              <a:t>	//outputs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3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6285">
              <a:lnSpc>
                <a:spcPts val="1814"/>
              </a:lnSpc>
            </a:pPr>
            <a:r>
              <a:rPr sz="1800" spc="-10" dirty="0">
                <a:latin typeface="Verdana"/>
                <a:cs typeface="Verdana"/>
              </a:rPr>
              <a:t>alert(triangle.getArea());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24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6285">
              <a:lnSpc>
                <a:spcPts val="1945"/>
              </a:lnSpc>
              <a:tabLst>
                <a:tab pos="3723640" algn="l"/>
              </a:tabLst>
            </a:pPr>
            <a:r>
              <a:rPr sz="1800" spc="-10" dirty="0">
                <a:latin typeface="Verdana"/>
                <a:cs typeface="Verdana"/>
              </a:rPr>
              <a:t>alert(rectangle.sides);</a:t>
            </a:r>
            <a:r>
              <a:rPr sz="1800" dirty="0">
                <a:latin typeface="Verdana"/>
                <a:cs typeface="Verdana"/>
              </a:rPr>
              <a:t>	//outputs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4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6285">
              <a:lnSpc>
                <a:spcPts val="2050"/>
              </a:lnSpc>
            </a:pPr>
            <a:r>
              <a:rPr sz="1800" spc="-10" dirty="0">
                <a:latin typeface="Verdana"/>
                <a:cs typeface="Verdana"/>
              </a:rPr>
              <a:t>alert(rectangle.getArea());</a:t>
            </a:r>
            <a:r>
              <a:rPr sz="1800" dirty="0">
                <a:latin typeface="Verdana"/>
                <a:cs typeface="Verdana"/>
              </a:rPr>
              <a:t> //outputs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220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0580" y="180847"/>
            <a:ext cx="3195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Object</a:t>
            </a:r>
            <a:r>
              <a:rPr sz="1200" b="1" i="1" spc="-2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Oriented</a:t>
            </a:r>
            <a:r>
              <a:rPr sz="1200" b="1" i="1" spc="-35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Programming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dirty="0">
                <a:latin typeface="Arial"/>
                <a:cs typeface="Arial"/>
              </a:rPr>
              <a:t>in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JavaScript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7178" y="2674112"/>
            <a:ext cx="41541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Regular </a:t>
            </a:r>
            <a:r>
              <a:rPr spc="-10" dirty="0">
                <a:solidFill>
                  <a:srgbClr val="FFFFFF"/>
                </a:solidFill>
              </a:rPr>
              <a:t>Expressions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Regular</a:t>
            </a:r>
            <a:r>
              <a:rPr spc="-45" dirty="0"/>
              <a:t> </a:t>
            </a:r>
            <a:r>
              <a:rPr dirty="0"/>
              <a:t>Expression</a:t>
            </a:r>
            <a:r>
              <a:rPr spc="-65" dirty="0"/>
              <a:t> </a:t>
            </a:r>
            <a:r>
              <a:rPr spc="-10" dirty="0"/>
              <a:t>Support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401826"/>
            <a:ext cx="7768590" cy="4185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61849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8300" algn="l"/>
              </a:tabLst>
            </a:pP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strings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syntax </a:t>
            </a:r>
            <a:r>
              <a:rPr sz="2000" dirty="0">
                <a:latin typeface="Verdana"/>
                <a:cs typeface="Verdana"/>
              </a:rPr>
              <a:t>indicating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occurrence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specific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characters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dirty="0">
                <a:latin typeface="Verdana"/>
                <a:cs typeface="Verdana"/>
              </a:rPr>
              <a:t>substrings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another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string.</a:t>
            </a:r>
            <a:endParaRPr sz="2000">
              <a:latin typeface="Verdana"/>
              <a:cs typeface="Verdana"/>
            </a:endParaRPr>
          </a:p>
          <a:p>
            <a:pPr marL="368300" marR="177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8300" algn="l"/>
              </a:tabLst>
            </a:pP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introduced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1950" baseline="25641" dirty="0">
                <a:latin typeface="Verdana"/>
                <a:cs typeface="Verdana"/>
              </a:rPr>
              <a:t>rd</a:t>
            </a:r>
            <a:r>
              <a:rPr sz="1950" spc="345" baseline="25641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edition</a:t>
            </a:r>
            <a:r>
              <a:rPr sz="2000" spc="-25" dirty="0">
                <a:latin typeface="Verdana"/>
                <a:cs typeface="Verdana"/>
              </a:rPr>
              <a:t> of </a:t>
            </a:r>
            <a:r>
              <a:rPr sz="2000" spc="-10" dirty="0">
                <a:latin typeface="Verdana"/>
                <a:cs typeface="Verdana"/>
              </a:rPr>
              <a:t>ECMAScript.</a:t>
            </a:r>
            <a:endParaRPr sz="2000">
              <a:latin typeface="Verdana"/>
              <a:cs typeface="Verdana"/>
            </a:endParaRPr>
          </a:p>
          <a:p>
            <a:pPr marL="3676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supports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through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683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ECMAScript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RegExp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class.</a:t>
            </a:r>
            <a:endParaRPr sz="2000">
              <a:latin typeface="Verdana"/>
              <a:cs typeface="Verdana"/>
            </a:endParaRPr>
          </a:p>
          <a:p>
            <a:pPr marL="7683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683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RegExp(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Cat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7689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reCat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RegExp(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gi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//g=global,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i=case-</a:t>
            </a:r>
            <a:endParaRPr sz="1800">
              <a:latin typeface="Verdana"/>
              <a:cs typeface="Verdana"/>
            </a:endParaRPr>
          </a:p>
          <a:p>
            <a:pPr marL="76898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insensitive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(cf.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m=multiline).</a:t>
            </a:r>
            <a:endParaRPr sz="1800">
              <a:latin typeface="Verdana"/>
              <a:cs typeface="Verdana"/>
            </a:endParaRPr>
          </a:p>
          <a:p>
            <a:pPr marL="3676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</a:tabLst>
            </a:pPr>
            <a:r>
              <a:rPr sz="2000" dirty="0">
                <a:latin typeface="Verdana"/>
                <a:cs typeface="Verdana"/>
              </a:rPr>
              <a:t>Some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literals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Perl-</a:t>
            </a:r>
            <a:r>
              <a:rPr sz="2000" dirty="0">
                <a:latin typeface="Verdana"/>
                <a:cs typeface="Verdana"/>
              </a:rPr>
              <a:t>style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syntax:</a:t>
            </a:r>
            <a:endParaRPr sz="2000">
              <a:latin typeface="Verdana"/>
              <a:cs typeface="Verdana"/>
            </a:endParaRPr>
          </a:p>
          <a:p>
            <a:pPr marL="7683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68350" algn="l"/>
              </a:tabLst>
            </a:pPr>
            <a:r>
              <a:rPr sz="1800" spc="-10" dirty="0">
                <a:latin typeface="Verdana"/>
                <a:cs typeface="Verdana"/>
              </a:rPr>
              <a:t>/</a:t>
            </a:r>
            <a:r>
              <a:rPr sz="1800" i="1" spc="-10" dirty="0">
                <a:latin typeface="Verdana"/>
                <a:cs typeface="Verdana"/>
              </a:rPr>
              <a:t>string_pattern</a:t>
            </a:r>
            <a:r>
              <a:rPr sz="1800" spc="-10" dirty="0">
                <a:latin typeface="Verdana"/>
                <a:cs typeface="Verdana"/>
              </a:rPr>
              <a:t>/[</a:t>
            </a:r>
            <a:r>
              <a:rPr sz="1800" i="1" spc="-10" dirty="0">
                <a:latin typeface="Verdana"/>
                <a:cs typeface="Verdana"/>
              </a:rPr>
              <a:t>processing_instruction_flags</a:t>
            </a:r>
            <a:r>
              <a:rPr sz="1800" spc="-10" dirty="0">
                <a:latin typeface="Verdana"/>
                <a:cs typeface="Verdana"/>
              </a:rPr>
              <a:t>]</a:t>
            </a:r>
            <a:endParaRPr sz="1800">
              <a:latin typeface="Verdana"/>
              <a:cs typeface="Verdana"/>
            </a:endParaRPr>
          </a:p>
          <a:p>
            <a:pPr marL="7683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683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/cat/gi;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8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RegExp</a:t>
            </a:r>
            <a:r>
              <a:rPr spc="-50" dirty="0"/>
              <a:t> </a:t>
            </a:r>
            <a:r>
              <a:rPr spc="-10" dirty="0"/>
              <a:t>Object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43113"/>
            <a:ext cx="7980680" cy="44856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RegExp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test()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0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Determine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matches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specified</a:t>
            </a:r>
            <a:r>
              <a:rPr sz="1800" spc="-10" dirty="0">
                <a:latin typeface="Verdana"/>
                <a:cs typeface="Verdana"/>
              </a:rPr>
              <a:t> pattern.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spc="-10" dirty="0">
                <a:latin typeface="Verdana"/>
                <a:cs typeface="Verdana"/>
              </a:rPr>
              <a:t>alert(reCat.test(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meows.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));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true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015" marR="323215" lvl="1" indent="-285750">
              <a:lnSpc>
                <a:spcPct val="101099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exec()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Returns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Array.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item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first 	</a:t>
            </a:r>
            <a:r>
              <a:rPr sz="1800" dirty="0">
                <a:latin typeface="Verdana"/>
                <a:cs typeface="Verdana"/>
              </a:rPr>
              <a:t>match;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back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references.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9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reCat.exec(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catch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//returns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Cat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match()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Returns 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matches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string.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catch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.match(reCat);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//returns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14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cAt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ct val="101099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search()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14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Acts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way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indexOf(),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RegExp 	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instead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substring.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9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catch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.search(reCat));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2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Characters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Regular</a:t>
            </a:r>
            <a:r>
              <a:rPr spc="-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43"/>
            <a:ext cx="7778750" cy="50069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Metacharacters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05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metacharacter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regular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dirty="0">
                <a:latin typeface="Verdana"/>
                <a:cs typeface="Verdana"/>
              </a:rPr>
              <a:t>expression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.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^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 +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]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|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65"/>
              </a:lnSpc>
              <a:spcBef>
                <a:spcPts val="19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Metacharacters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literals,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95" dirty="0">
                <a:latin typeface="Verdana"/>
                <a:cs typeface="Verdana"/>
              </a:rPr>
              <a:t>don</a:t>
            </a:r>
            <a:r>
              <a:rPr sz="1800" spc="-195" dirty="0">
                <a:latin typeface="Century Gothic"/>
                <a:cs typeface="Century Gothic"/>
              </a:rPr>
              <a:t>‟</a:t>
            </a:r>
            <a:r>
              <a:rPr sz="1800" spc="-195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match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65"/>
              </a:lnSpc>
            </a:pPr>
            <a:r>
              <a:rPr sz="1800" dirty="0">
                <a:latin typeface="Verdana"/>
                <a:cs typeface="Verdana"/>
              </a:rPr>
              <a:t>themselves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regular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expressions.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ts val="1939"/>
              </a:lnSpc>
              <a:spcBef>
                <a:spcPts val="46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Any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want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inside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 	</a:t>
            </a:r>
            <a:r>
              <a:rPr sz="1800" dirty="0">
                <a:latin typeface="Verdana"/>
                <a:cs typeface="Verdana"/>
              </a:rPr>
              <a:t>regular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must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escaped.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ts val="2039"/>
              </a:lnSpc>
              <a:spcBef>
                <a:spcPts val="19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reQMark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/\?/;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or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2039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reQMark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RegExp(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\\?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double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escaping.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6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characters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To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represent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ASCII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18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spc="-10" dirty="0">
                <a:latin typeface="Verdana"/>
                <a:cs typeface="Verdana"/>
              </a:rPr>
              <a:t>Two-</a:t>
            </a:r>
            <a:r>
              <a:rPr sz="1800" dirty="0">
                <a:latin typeface="Verdana"/>
                <a:cs typeface="Verdana"/>
              </a:rPr>
              <a:t>digit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hexadecimal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code: \x62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(cf.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octal: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\142)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To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represent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Unicode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18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spc="-10" dirty="0">
                <a:latin typeface="Verdana"/>
                <a:cs typeface="Verdana"/>
              </a:rPr>
              <a:t>Four-</a:t>
            </a:r>
            <a:r>
              <a:rPr sz="1800" dirty="0">
                <a:latin typeface="Verdana"/>
                <a:cs typeface="Verdana"/>
              </a:rPr>
              <a:t>digit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hexadecimal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code: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\u0062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650" lvl="1" indent="-285750">
              <a:lnSpc>
                <a:spcPct val="100000"/>
              </a:lnSpc>
              <a:spcBef>
                <a:spcPts val="2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Predefined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characters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\t,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\n,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\r,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\f,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\a,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\e,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\cX,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\b,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\v,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\0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Character</a:t>
            </a:r>
            <a:r>
              <a:rPr spc="-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345"/>
            <a:ext cx="8030845" cy="5012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28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Character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characters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for,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enclosed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inside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square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brakets([]).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3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Simple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simple class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exact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for.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55"/>
              </a:lnSpc>
              <a:spcBef>
                <a:spcPts val="19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 =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 eat </a:t>
            </a:r>
            <a:r>
              <a:rPr sz="1800" spc="-10" dirty="0">
                <a:latin typeface="Verdana"/>
                <a:cs typeface="Verdana"/>
              </a:rPr>
              <a:t>fat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.match(/</a:t>
            </a:r>
            <a:r>
              <a:rPr sz="1800" b="1" spc="-10" dirty="0">
                <a:latin typeface="Verdana"/>
                <a:cs typeface="Verdana"/>
              </a:rPr>
              <a:t>[</a:t>
            </a:r>
            <a:r>
              <a:rPr sz="1800" spc="-10" dirty="0">
                <a:latin typeface="Verdana"/>
                <a:cs typeface="Verdana"/>
              </a:rPr>
              <a:t>bcf</a:t>
            </a:r>
            <a:r>
              <a:rPr sz="1800" b="1" spc="-10" dirty="0">
                <a:latin typeface="Verdana"/>
                <a:cs typeface="Verdana"/>
              </a:rPr>
              <a:t>]</a:t>
            </a:r>
            <a:r>
              <a:rPr sz="1800" spc="-10" dirty="0">
                <a:latin typeface="Verdana"/>
                <a:cs typeface="Verdana"/>
              </a:rPr>
              <a:t>at/gi);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5"/>
              </a:lnSpc>
            </a:pP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0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fat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5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Negation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</a:t>
            </a:r>
            <a:endParaRPr sz="2000">
              <a:latin typeface="Verdana"/>
              <a:cs typeface="Verdana"/>
            </a:endParaRPr>
          </a:p>
          <a:p>
            <a:pPr marL="755015" marR="246379" lvl="1" indent="-285750">
              <a:lnSpc>
                <a:spcPts val="1939"/>
              </a:lnSpc>
              <a:spcBef>
                <a:spcPts val="47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negation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class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matches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except for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selected 	</a:t>
            </a:r>
            <a:r>
              <a:rPr sz="1800" spc="-20" dirty="0">
                <a:latin typeface="Verdana"/>
                <a:cs typeface="Verdana"/>
              </a:rPr>
              <a:t>few.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19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caret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(^).</a:t>
            </a:r>
            <a:endParaRPr sz="1800">
              <a:latin typeface="Verdana"/>
              <a:cs typeface="Verdana"/>
            </a:endParaRPr>
          </a:p>
          <a:p>
            <a:pPr marL="755015" marR="70485" lvl="1" indent="-285750">
              <a:lnSpc>
                <a:spcPts val="1939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bat cat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eat </a:t>
            </a:r>
            <a:r>
              <a:rPr sz="1800" spc="-10" dirty="0">
                <a:latin typeface="Verdana"/>
                <a:cs typeface="Verdana"/>
              </a:rPr>
              <a:t>fat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.match(/[</a:t>
            </a:r>
            <a:r>
              <a:rPr sz="1800" b="1" spc="-10" dirty="0">
                <a:latin typeface="Verdana"/>
                <a:cs typeface="Verdana"/>
              </a:rPr>
              <a:t>^</a:t>
            </a:r>
            <a:r>
              <a:rPr sz="1800" spc="-10" dirty="0">
                <a:latin typeface="Verdana"/>
                <a:cs typeface="Verdana"/>
              </a:rPr>
              <a:t>bc]at/gi);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an 	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eat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fat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3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Range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range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class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range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characters.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dash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(-</a:t>
            </a:r>
            <a:r>
              <a:rPr sz="1800" dirty="0">
                <a:latin typeface="Verdana"/>
                <a:cs typeface="Verdana"/>
              </a:rPr>
              <a:t>),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through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ts val="1939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no1,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no3 </a:t>
            </a:r>
            <a:r>
              <a:rPr sz="1800" spc="-10" dirty="0">
                <a:latin typeface="Verdana"/>
                <a:cs typeface="Verdana"/>
              </a:rPr>
              <a:t>no4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.match(/no[1</a:t>
            </a:r>
            <a:r>
              <a:rPr sz="1800" b="1" spc="-10" dirty="0">
                <a:latin typeface="Verdana"/>
                <a:cs typeface="Verdana"/>
              </a:rPr>
              <a:t>-</a:t>
            </a:r>
            <a:r>
              <a:rPr sz="1800" dirty="0">
                <a:latin typeface="Verdana"/>
                <a:cs typeface="Verdana"/>
              </a:rPr>
              <a:t>3]/gi);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//returns 	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no1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no2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no3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Character</a:t>
            </a:r>
            <a:r>
              <a:rPr spc="-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8068945" cy="46272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Combination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155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combination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class</a:t>
            </a:r>
            <a:r>
              <a:rPr sz="1800" i="1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made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up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395"/>
              </a:lnSpc>
            </a:pPr>
            <a:r>
              <a:rPr sz="1800" dirty="0">
                <a:latin typeface="Verdana"/>
                <a:cs typeface="Verdana"/>
              </a:rPr>
              <a:t>several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classes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/[a-</a:t>
            </a:r>
            <a:r>
              <a:rPr sz="1800" spc="-20" dirty="0">
                <a:latin typeface="Verdana"/>
                <a:cs typeface="Verdana"/>
              </a:rPr>
              <a:t>m1-</a:t>
            </a:r>
            <a:r>
              <a:rPr sz="1800" dirty="0">
                <a:latin typeface="Verdana"/>
                <a:cs typeface="Verdana"/>
              </a:rPr>
              <a:t>4]/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a1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b3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h2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m4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40" dirty="0">
                <a:latin typeface="Verdana"/>
                <a:cs typeface="Verdana"/>
              </a:rPr>
              <a:t>doesn</a:t>
            </a:r>
            <a:r>
              <a:rPr sz="1800" spc="-140" dirty="0">
                <a:latin typeface="Century Gothic"/>
                <a:cs typeface="Century Gothic"/>
              </a:rPr>
              <a:t>‟</a:t>
            </a:r>
            <a:r>
              <a:rPr sz="1800" spc="-140" dirty="0">
                <a:latin typeface="Verdana"/>
                <a:cs typeface="Verdana"/>
              </a:rPr>
              <a:t>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support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union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intersection</a:t>
            </a:r>
            <a:r>
              <a:rPr sz="1800" i="1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classes,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such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30"/>
              </a:spcBef>
            </a:pPr>
            <a:r>
              <a:rPr sz="1800" dirty="0">
                <a:latin typeface="Verdana"/>
                <a:cs typeface="Verdana"/>
              </a:rPr>
              <a:t>as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[a-m[p-</a:t>
            </a:r>
            <a:r>
              <a:rPr sz="1800" dirty="0">
                <a:latin typeface="Verdana"/>
                <a:cs typeface="Verdana"/>
              </a:rPr>
              <a:t>z]]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[a-m[^b-</a:t>
            </a:r>
            <a:r>
              <a:rPr sz="1800" spc="-20" dirty="0">
                <a:latin typeface="Verdana"/>
                <a:cs typeface="Verdana"/>
              </a:rPr>
              <a:t>e]].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Predefined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classes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.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[^\n\r]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Any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except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315" dirty="0">
                <a:latin typeface="Century Gothic"/>
                <a:cs typeface="Century Gothic"/>
              </a:rPr>
              <a:t>„</a:t>
            </a:r>
            <a:r>
              <a:rPr sz="1800" spc="-315" dirty="0">
                <a:latin typeface="Verdana"/>
                <a:cs typeface="Verdana"/>
              </a:rPr>
              <a:t>\n</a:t>
            </a:r>
            <a:r>
              <a:rPr sz="1800" spc="-315" dirty="0">
                <a:latin typeface="Century Gothic"/>
                <a:cs typeface="Century Gothic"/>
              </a:rPr>
              <a:t>‟</a:t>
            </a:r>
            <a:r>
              <a:rPr sz="1800" spc="1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75" dirty="0">
                <a:latin typeface="Century Gothic"/>
                <a:cs typeface="Century Gothic"/>
              </a:rPr>
              <a:t>„</a:t>
            </a:r>
            <a:r>
              <a:rPr sz="1800" spc="-275" dirty="0">
                <a:latin typeface="Verdana"/>
                <a:cs typeface="Verdana"/>
              </a:rPr>
              <a:t>\r</a:t>
            </a:r>
            <a:r>
              <a:rPr sz="1800" spc="-275" dirty="0">
                <a:latin typeface="Century Gothic"/>
                <a:cs typeface="Century Gothic"/>
              </a:rPr>
              <a:t>‟</a:t>
            </a:r>
            <a:r>
              <a:rPr sz="1800" spc="-275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[0-</a:t>
            </a:r>
            <a:r>
              <a:rPr sz="1800" dirty="0">
                <a:latin typeface="Verdana"/>
                <a:cs typeface="Verdana"/>
              </a:rPr>
              <a:t>9]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digit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20" dirty="0">
                <a:latin typeface="Verdana"/>
                <a:cs typeface="Verdana"/>
              </a:rPr>
              <a:t>[^0-</a:t>
            </a:r>
            <a:r>
              <a:rPr sz="1800" dirty="0">
                <a:latin typeface="Verdana"/>
                <a:cs typeface="Verdana"/>
              </a:rPr>
              <a:t>9]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non-</a:t>
            </a:r>
            <a:r>
              <a:rPr sz="1800" spc="-20" dirty="0">
                <a:latin typeface="Verdana"/>
                <a:cs typeface="Verdana"/>
              </a:rPr>
              <a:t>digit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\t\n\x0B\f\r]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white-</a:t>
            </a:r>
            <a:r>
              <a:rPr sz="1800" dirty="0">
                <a:latin typeface="Verdana"/>
                <a:cs typeface="Verdana"/>
              </a:rPr>
              <a:t>space</a:t>
            </a:r>
            <a:r>
              <a:rPr sz="1800" spc="-10" dirty="0">
                <a:latin typeface="Verdana"/>
                <a:cs typeface="Verdana"/>
              </a:rPr>
              <a:t> character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[^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\t\n\x0B\f\r]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non-white-</a:t>
            </a:r>
            <a:r>
              <a:rPr sz="1800" dirty="0">
                <a:latin typeface="Verdana"/>
                <a:cs typeface="Verdana"/>
              </a:rPr>
              <a:t>space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\w = </a:t>
            </a:r>
            <a:r>
              <a:rPr sz="1800" spc="-10" dirty="0">
                <a:latin typeface="Verdana"/>
                <a:cs typeface="Verdana"/>
              </a:rPr>
              <a:t>[a-zA-</a:t>
            </a:r>
            <a:r>
              <a:rPr sz="1800" spc="-20" dirty="0">
                <a:latin typeface="Verdana"/>
                <a:cs typeface="Verdana"/>
              </a:rPr>
              <a:t>Z_0-</a:t>
            </a:r>
            <a:r>
              <a:rPr sz="1800" dirty="0">
                <a:latin typeface="Verdana"/>
                <a:cs typeface="Verdana"/>
              </a:rPr>
              <a:t>9]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 word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\W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[^a-zA-</a:t>
            </a:r>
            <a:r>
              <a:rPr sz="1800" spc="-20" dirty="0">
                <a:latin typeface="Verdana"/>
                <a:cs typeface="Verdana"/>
              </a:rPr>
              <a:t>Z_0-</a:t>
            </a:r>
            <a:r>
              <a:rPr sz="1800" dirty="0">
                <a:latin typeface="Verdana"/>
                <a:cs typeface="Verdana"/>
              </a:rPr>
              <a:t>9]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non-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Quantifiers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004809" cy="494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Quantifiers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enable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specify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how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pattern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should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occur.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Simple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quantifiers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?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Either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zero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10" dirty="0">
                <a:latin typeface="Verdana"/>
                <a:cs typeface="Verdana"/>
              </a:rPr>
              <a:t> occurrence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*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Zero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10" dirty="0">
                <a:latin typeface="Verdana"/>
                <a:cs typeface="Verdana"/>
              </a:rPr>
              <a:t> occurrences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1450" dirty="0">
                <a:solidFill>
                  <a:srgbClr val="9999CC"/>
                </a:solidFill>
                <a:latin typeface="Wingdings"/>
                <a:cs typeface="Wingdings"/>
              </a:rPr>
              <a:t></a:t>
            </a:r>
            <a:r>
              <a:rPr sz="1450" spc="114" dirty="0">
                <a:solidFill>
                  <a:srgbClr val="9999CC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occurrences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{n}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Exactly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occurrences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{n,m}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least 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 occurrences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{n,}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least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10" dirty="0">
                <a:latin typeface="Verdana"/>
                <a:cs typeface="Verdana"/>
              </a:rPr>
              <a:t> occurrences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Clr>
                <a:srgbClr val="9999CC"/>
              </a:buClr>
              <a:buFont typeface="Wingdings"/>
              <a:buChar char=""/>
            </a:pP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/ba?d/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bad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/ba*d/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baaad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,..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/ba+d/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baaad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,..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/b?rea?d/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/b{0,1}rea{0,1}d/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bread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read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red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,..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/b[ea]{1,2}d/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baed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bead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baad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,..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Quantifiers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8140065" cy="4848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three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kinds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quantifiers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greedy</a:t>
            </a:r>
            <a:r>
              <a:rPr sz="2000" spc="-10" dirty="0">
                <a:latin typeface="Verdana"/>
                <a:cs typeface="Verdana"/>
              </a:rPr>
              <a:t>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reluctant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possessive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*,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+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symbols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Greedy: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{n},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{n,m},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{n,}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Reluctant: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??,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*?,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+?,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{n}?,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{n,m}?,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{n,}?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Possessive: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?+,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*+,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++,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{n}+,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{n,m}+,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{n,}+</a:t>
            </a:r>
            <a:endParaRPr sz="1800">
              <a:latin typeface="Verdana"/>
              <a:cs typeface="Verdana"/>
            </a:endParaRPr>
          </a:p>
          <a:p>
            <a:pPr marL="1155700" marR="2043430" lvl="2" indent="-228600">
              <a:lnSpc>
                <a:spcPct val="101099"/>
              </a:lnSpc>
              <a:spcBef>
                <a:spcPts val="18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strToMatch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abbbaabbbaaabbb123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 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re1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/.*bbb/g;</a:t>
            </a:r>
            <a:r>
              <a:rPr sz="1800" spc="-10" dirty="0">
                <a:latin typeface="Verdana"/>
                <a:cs typeface="Verdana"/>
              </a:rPr>
              <a:t> //greedy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re2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/.*?bbb/g;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//reluctant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re3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/.*+bbb/g;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//possessive</a:t>
            </a:r>
            <a:endParaRPr sz="1800">
              <a:latin typeface="Verdana"/>
              <a:cs typeface="Verdana"/>
            </a:endParaRPr>
          </a:p>
          <a:p>
            <a:pPr marL="1155700" marR="325120">
              <a:lnSpc>
                <a:spcPct val="100600"/>
              </a:lnSpc>
              <a:spcBef>
                <a:spcPts val="1160"/>
              </a:spcBef>
            </a:pPr>
            <a:r>
              <a:rPr sz="1800" dirty="0">
                <a:latin typeface="Verdana"/>
                <a:cs typeface="Verdana"/>
              </a:rPr>
              <a:t>strToMatch.match(re1);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abbbaabbbaaabbb</a:t>
            </a:r>
            <a:r>
              <a:rPr sz="1800" spc="-10" dirty="0">
                <a:latin typeface="Century Gothic"/>
                <a:cs typeface="Century Gothic"/>
              </a:rPr>
              <a:t>” </a:t>
            </a:r>
            <a:r>
              <a:rPr sz="1800" dirty="0">
                <a:latin typeface="Verdana"/>
                <a:cs typeface="Verdana"/>
              </a:rPr>
              <a:t>strToMatch.match(re2);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abbb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aabbb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9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aaabbb</a:t>
            </a:r>
            <a:r>
              <a:rPr sz="1800" spc="-10" dirty="0">
                <a:latin typeface="Century Gothic"/>
                <a:cs typeface="Century Gothic"/>
              </a:rPr>
              <a:t>” </a:t>
            </a:r>
            <a:r>
              <a:rPr sz="1800" dirty="0">
                <a:latin typeface="Verdana"/>
                <a:cs typeface="Verdana"/>
              </a:rPr>
              <a:t>strToMatch.match(re3);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null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Some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browsers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25" dirty="0">
                <a:latin typeface="Verdana"/>
                <a:cs typeface="Verdana"/>
              </a:rPr>
              <a:t>don</a:t>
            </a:r>
            <a:r>
              <a:rPr sz="2000" spc="-225" dirty="0">
                <a:latin typeface="Century Gothic"/>
                <a:cs typeface="Century Gothic"/>
              </a:rPr>
              <a:t>‟</a:t>
            </a:r>
            <a:r>
              <a:rPr sz="2000" spc="-225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support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possessive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quantifier.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Grouping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To</a:t>
            </a:r>
            <a:r>
              <a:rPr spc="-30" dirty="0"/>
              <a:t> </a:t>
            </a:r>
            <a:r>
              <a:rPr dirty="0"/>
              <a:t>handle</a:t>
            </a:r>
            <a:r>
              <a:rPr spc="-35" dirty="0"/>
              <a:t> </a:t>
            </a:r>
            <a:r>
              <a:rPr dirty="0"/>
              <a:t>character</a:t>
            </a:r>
            <a:r>
              <a:rPr spc="-55" dirty="0"/>
              <a:t> </a:t>
            </a:r>
            <a:r>
              <a:rPr dirty="0"/>
              <a:t>sequences</a:t>
            </a:r>
            <a:r>
              <a:rPr spc="-65" dirty="0"/>
              <a:t> </a:t>
            </a:r>
            <a:r>
              <a:rPr dirty="0"/>
              <a:t>instead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individual</a:t>
            </a:r>
          </a:p>
          <a:p>
            <a:pPr marL="355600">
              <a:lnSpc>
                <a:spcPct val="100000"/>
              </a:lnSpc>
            </a:pPr>
            <a:r>
              <a:rPr dirty="0"/>
              <a:t>characters,</a:t>
            </a:r>
            <a:r>
              <a:rPr spc="-85" dirty="0"/>
              <a:t> </a:t>
            </a:r>
            <a:r>
              <a:rPr dirty="0"/>
              <a:t>regular</a:t>
            </a:r>
            <a:r>
              <a:rPr spc="-55" dirty="0"/>
              <a:t> </a:t>
            </a:r>
            <a:r>
              <a:rPr dirty="0"/>
              <a:t>expressions</a:t>
            </a:r>
            <a:r>
              <a:rPr spc="-80" dirty="0"/>
              <a:t> </a:t>
            </a:r>
            <a:r>
              <a:rPr dirty="0"/>
              <a:t>support</a:t>
            </a:r>
            <a:r>
              <a:rPr spc="-60" dirty="0"/>
              <a:t> </a:t>
            </a:r>
            <a:r>
              <a:rPr spc="-10" dirty="0"/>
              <a:t>grouping.</a:t>
            </a: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dirty="0"/>
              <a:t>Grouping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enclosing</a:t>
            </a:r>
            <a:r>
              <a:rPr spc="-2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set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characters,</a:t>
            </a:r>
            <a:r>
              <a:rPr spc="-60" dirty="0"/>
              <a:t> </a:t>
            </a:r>
            <a:r>
              <a:rPr spc="-10" dirty="0"/>
              <a:t>character </a:t>
            </a:r>
            <a:r>
              <a:rPr dirty="0"/>
              <a:t>classes,</a:t>
            </a:r>
            <a:r>
              <a:rPr spc="-50" dirty="0"/>
              <a:t> </a:t>
            </a:r>
            <a:r>
              <a:rPr dirty="0"/>
              <a:t>and/or</a:t>
            </a:r>
            <a:r>
              <a:rPr spc="-40" dirty="0"/>
              <a:t> </a:t>
            </a:r>
            <a:r>
              <a:rPr dirty="0"/>
              <a:t>quantifiers</a:t>
            </a:r>
            <a:r>
              <a:rPr spc="-40" dirty="0"/>
              <a:t> </a:t>
            </a:r>
            <a:r>
              <a:rPr dirty="0"/>
              <a:t>inside</a:t>
            </a:r>
            <a:r>
              <a:rPr spc="-2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set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parentheses.</a:t>
            </a: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/dogdog/g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</a:t>
            </a:r>
            <a:r>
              <a:rPr sz="1800" b="1" dirty="0">
                <a:latin typeface="Verdana"/>
                <a:cs typeface="Verdana"/>
              </a:rPr>
              <a:t>(</a:t>
            </a:r>
            <a:r>
              <a:rPr sz="1800" dirty="0">
                <a:latin typeface="Verdana"/>
                <a:cs typeface="Verdana"/>
              </a:rPr>
              <a:t>dog</a:t>
            </a:r>
            <a:r>
              <a:rPr sz="1800" b="1" dirty="0">
                <a:latin typeface="Verdana"/>
                <a:cs typeface="Verdana"/>
              </a:rPr>
              <a:t>)</a:t>
            </a:r>
            <a:r>
              <a:rPr sz="1800" dirty="0">
                <a:latin typeface="Verdana"/>
                <a:cs typeface="Verdana"/>
              </a:rPr>
              <a:t>{2}/g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dogdog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/(mom(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dad)?)/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mom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mom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dad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practical</a:t>
            </a:r>
            <a:r>
              <a:rPr spc="-40" dirty="0"/>
              <a:t> </a:t>
            </a:r>
            <a:r>
              <a:rPr spc="-10" dirty="0"/>
              <a:t>example:</a:t>
            </a: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204" dirty="0">
                <a:latin typeface="Verdana"/>
                <a:cs typeface="Verdana"/>
              </a:rPr>
              <a:t>Let</a:t>
            </a:r>
            <a:r>
              <a:rPr sz="1800" spc="-204" dirty="0">
                <a:latin typeface="Century Gothic"/>
                <a:cs typeface="Century Gothic"/>
              </a:rPr>
              <a:t>‟</a:t>
            </a:r>
            <a:r>
              <a:rPr sz="1800" spc="-204" dirty="0">
                <a:latin typeface="Verdana"/>
                <a:cs typeface="Verdana"/>
              </a:rPr>
              <a:t>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trim()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  <a:p>
            <a:pPr marL="755650" marR="2593975" lvl="1" indent="-285750">
              <a:lnSpc>
                <a:spcPct val="100000"/>
              </a:lnSpc>
              <a:spcBef>
                <a:spcPts val="45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spc="-10" dirty="0">
                <a:latin typeface="Verdana"/>
                <a:cs typeface="Verdana"/>
              </a:rPr>
              <a:t>String.prototype.trim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 	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reExtraSpace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/^\s+(.*?)\s+$/;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/>
              <a:t>return</a:t>
            </a:r>
            <a:r>
              <a:rPr sz="1800" spc="-60" dirty="0"/>
              <a:t> </a:t>
            </a:r>
            <a:r>
              <a:rPr sz="1800" dirty="0"/>
              <a:t>this.replace(reExtraSpace,</a:t>
            </a:r>
            <a:r>
              <a:rPr sz="1800" spc="-70" dirty="0"/>
              <a:t> </a:t>
            </a:r>
            <a:r>
              <a:rPr sz="1800" spc="-10" dirty="0"/>
              <a:t>"$1");</a:t>
            </a:r>
            <a:endParaRPr sz="1800"/>
          </a:p>
          <a:p>
            <a:pPr marL="756285">
              <a:lnSpc>
                <a:spcPct val="100000"/>
              </a:lnSpc>
            </a:pPr>
            <a:r>
              <a:rPr sz="1800" spc="-25" dirty="0"/>
              <a:t>};</a:t>
            </a:r>
            <a:endParaRPr sz="1800"/>
          </a:p>
          <a:p>
            <a:pPr marL="1155065" lvl="2" indent="-227965">
              <a:lnSpc>
                <a:spcPct val="100000"/>
              </a:lnSpc>
              <a:spcBef>
                <a:spcPts val="39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\s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white-</a:t>
            </a:r>
            <a:r>
              <a:rPr sz="1800" dirty="0">
                <a:latin typeface="Verdana"/>
                <a:cs typeface="Verdana"/>
              </a:rPr>
              <a:t>space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^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Beginning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line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$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End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line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Backreferences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345"/>
            <a:ext cx="8053705" cy="49999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373380" indent="-342900">
              <a:lnSpc>
                <a:spcPct val="90100"/>
              </a:lnSpc>
              <a:spcBef>
                <a:spcPts val="3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Each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stored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location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later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use. </a:t>
            </a:r>
            <a:r>
              <a:rPr sz="2000" dirty="0">
                <a:latin typeface="Verdana"/>
                <a:cs typeface="Verdana"/>
              </a:rPr>
              <a:t>These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values,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stored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groups,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called </a:t>
            </a:r>
            <a:r>
              <a:rPr sz="2000" i="1" spc="-10" dirty="0">
                <a:latin typeface="Verdana"/>
                <a:cs typeface="Verdana"/>
              </a:rPr>
              <a:t>backreferences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" dirty="0">
                <a:latin typeface="Verdana"/>
                <a:cs typeface="Verdana"/>
              </a:rPr>
              <a:t> backreferences: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055"/>
              </a:lnSpc>
              <a:spcBef>
                <a:spcPts val="22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backreferences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obtained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5"/>
              </a:lnSpc>
            </a:pPr>
            <a:r>
              <a:rPr sz="1800" dirty="0">
                <a:latin typeface="Verdana"/>
                <a:cs typeface="Verdana"/>
              </a:rPr>
              <a:t>RegExp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itself.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(RegExp.$1-</a:t>
            </a:r>
            <a:r>
              <a:rPr sz="1800" spc="-20" dirty="0">
                <a:latin typeface="Verdana"/>
                <a:cs typeface="Verdana"/>
              </a:rPr>
              <a:t>$9).</a:t>
            </a:r>
            <a:endParaRPr sz="1800">
              <a:latin typeface="Verdana"/>
              <a:cs typeface="Verdana"/>
            </a:endParaRPr>
          </a:p>
          <a:p>
            <a:pPr marL="1155700" marR="2009139" lvl="2" indent="-228600">
              <a:lnSpc>
                <a:spcPct val="89400"/>
              </a:lnSpc>
              <a:spcBef>
                <a:spcPts val="44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reNumbers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/#(\d+)/; reNumbers.test(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#123456789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 </a:t>
            </a:r>
            <a:r>
              <a:rPr sz="1800" dirty="0">
                <a:latin typeface="Verdana"/>
                <a:cs typeface="Verdana"/>
              </a:rPr>
              <a:t>alert(</a:t>
            </a:r>
            <a:r>
              <a:rPr sz="1800" b="1" dirty="0">
                <a:latin typeface="Verdana"/>
                <a:cs typeface="Verdana"/>
              </a:rPr>
              <a:t>RegExp.$1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//ouputs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123456789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015" marR="268605" lvl="1" indent="-285750">
              <a:lnSpc>
                <a:spcPct val="90100"/>
              </a:lnSpc>
              <a:spcBef>
                <a:spcPts val="45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Backreferences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that 	</a:t>
            </a:r>
            <a:r>
              <a:rPr sz="1800" dirty="0">
                <a:latin typeface="Verdana"/>
                <a:cs typeface="Verdana"/>
              </a:rPr>
              <a:t>defines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groups.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escape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sequences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\1,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\2, 	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/(dog)</a:t>
            </a:r>
            <a:r>
              <a:rPr sz="1800" b="1" dirty="0">
                <a:latin typeface="Verdana"/>
                <a:cs typeface="Verdana"/>
              </a:rPr>
              <a:t>\1</a:t>
            </a:r>
            <a:r>
              <a:rPr sz="1800" dirty="0">
                <a:latin typeface="Verdana"/>
                <a:cs typeface="Verdana"/>
              </a:rPr>
              <a:t>/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/dogdog/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65"/>
              </a:lnSpc>
              <a:spcBef>
                <a:spcPts val="19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Backreferences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String</a:t>
            </a:r>
            <a:r>
              <a:rPr sz="1800" spc="-125" dirty="0">
                <a:latin typeface="Century Gothic"/>
                <a:cs typeface="Century Gothic"/>
              </a:rPr>
              <a:t>‟</a:t>
            </a:r>
            <a:r>
              <a:rPr sz="1800" spc="-125" dirty="0">
                <a:latin typeface="Verdana"/>
                <a:cs typeface="Verdana"/>
              </a:rPr>
              <a:t>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replace()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method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65"/>
              </a:lnSpc>
            </a:pPr>
            <a:r>
              <a:rPr sz="1800" dirty="0">
                <a:latin typeface="Verdana"/>
                <a:cs typeface="Verdana"/>
              </a:rPr>
              <a:t>by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special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sequences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$1,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$2,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ts val="2039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reMatch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/(\d{4})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(\d{4})/;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193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1234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5678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.replace(reMatch,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b="1" dirty="0">
                <a:latin typeface="Verdana"/>
                <a:cs typeface="Verdana"/>
              </a:rPr>
              <a:t>$2</a:t>
            </a:r>
            <a:r>
              <a:rPr sz="1800" b="1" spc="-5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$1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2050"/>
              </a:lnSpc>
            </a:pP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5678 </a:t>
            </a:r>
            <a:r>
              <a:rPr sz="1800" spc="-20" dirty="0">
                <a:latin typeface="Verdana"/>
                <a:cs typeface="Verdana"/>
              </a:rPr>
              <a:t>1234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Non-</a:t>
            </a:r>
            <a:r>
              <a:rPr dirty="0"/>
              <a:t>capturing</a:t>
            </a:r>
            <a:r>
              <a:rPr spc="-30" dirty="0"/>
              <a:t> </a:t>
            </a:r>
            <a:r>
              <a:rPr spc="-10" dirty="0"/>
              <a:t>Groups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345"/>
            <a:ext cx="7894320" cy="4850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153035" indent="-342900">
              <a:lnSpc>
                <a:spcPct val="90100"/>
              </a:lnSpc>
              <a:spcBef>
                <a:spcPts val="3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Groups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backreferences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called </a:t>
            </a:r>
            <a:r>
              <a:rPr sz="2000" i="1" spc="-10" dirty="0">
                <a:latin typeface="Verdana"/>
                <a:cs typeface="Verdana"/>
              </a:rPr>
              <a:t>capturing </a:t>
            </a:r>
            <a:r>
              <a:rPr sz="2000" i="1" dirty="0">
                <a:latin typeface="Verdana"/>
                <a:cs typeface="Verdana"/>
              </a:rPr>
              <a:t>groups</a:t>
            </a:r>
            <a:r>
              <a:rPr sz="2000" dirty="0">
                <a:latin typeface="Verdana"/>
                <a:cs typeface="Verdana"/>
              </a:rPr>
              <a:t>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non-</a:t>
            </a:r>
            <a:r>
              <a:rPr sz="2000" i="1" dirty="0">
                <a:latin typeface="Verdana"/>
                <a:cs typeface="Verdana"/>
              </a:rPr>
              <a:t>capturing</a:t>
            </a:r>
            <a:r>
              <a:rPr sz="2000" i="1" spc="-6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groups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70" dirty="0">
                <a:latin typeface="Verdana"/>
                <a:cs typeface="Verdana"/>
              </a:rPr>
              <a:t>don</a:t>
            </a:r>
            <a:r>
              <a:rPr sz="2000" spc="-270" dirty="0">
                <a:latin typeface="Century Gothic"/>
                <a:cs typeface="Century Gothic"/>
              </a:rPr>
              <a:t>‟</a:t>
            </a:r>
            <a:r>
              <a:rPr sz="2000" spc="-270" dirty="0">
                <a:latin typeface="Verdana"/>
                <a:cs typeface="Verdana"/>
              </a:rPr>
              <a:t>t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backreferences.</a:t>
            </a:r>
            <a:endParaRPr sz="2000">
              <a:latin typeface="Verdana"/>
              <a:cs typeface="Verdana"/>
            </a:endParaRPr>
          </a:p>
          <a:p>
            <a:pPr marL="355600" marR="25400" indent="-342900">
              <a:lnSpc>
                <a:spcPts val="2160"/>
              </a:lnSpc>
              <a:spcBef>
                <a:spcPts val="509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Use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non-</a:t>
            </a:r>
            <a:r>
              <a:rPr sz="2000" dirty="0">
                <a:latin typeface="Verdana"/>
                <a:cs typeface="Verdana"/>
              </a:rPr>
              <a:t>capturing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avoid 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overhead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storing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results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expressions.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2160"/>
              </a:lnSpc>
              <a:spcBef>
                <a:spcPts val="48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non-</a:t>
            </a:r>
            <a:r>
              <a:rPr sz="2000" dirty="0">
                <a:latin typeface="Verdana"/>
                <a:cs typeface="Verdana"/>
              </a:rPr>
              <a:t>capturing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just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question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mark </a:t>
            </a:r>
            <a:r>
              <a:rPr sz="2000" dirty="0">
                <a:latin typeface="Verdana"/>
                <a:cs typeface="Verdana"/>
              </a:rPr>
              <a:t>followed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colon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immediately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after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opening parenthesis.</a:t>
            </a:r>
            <a:endParaRPr sz="2000">
              <a:latin typeface="Verdana"/>
              <a:cs typeface="Verdana"/>
            </a:endParaRPr>
          </a:p>
          <a:p>
            <a:pPr marL="755015" marR="3312795" lvl="1" indent="-285750">
              <a:lnSpc>
                <a:spcPct val="895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reNumbers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/#(</a:t>
            </a:r>
            <a:r>
              <a:rPr sz="1800" b="1" spc="-10" dirty="0">
                <a:latin typeface="Verdana"/>
                <a:cs typeface="Verdana"/>
              </a:rPr>
              <a:t>?:</a:t>
            </a:r>
            <a:r>
              <a:rPr sz="1800" spc="-10" dirty="0">
                <a:latin typeface="Verdana"/>
                <a:cs typeface="Verdana"/>
              </a:rPr>
              <a:t>\d+)/; 	reNumbers.test(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#123456789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 	</a:t>
            </a:r>
            <a:r>
              <a:rPr sz="1800" dirty="0">
                <a:latin typeface="Verdana"/>
                <a:cs typeface="Verdana"/>
              </a:rPr>
              <a:t>alert(RegExp.$1);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//ouputs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“”</a:t>
            </a: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254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example: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204" dirty="0">
                <a:latin typeface="Verdana"/>
                <a:cs typeface="Verdana"/>
              </a:rPr>
              <a:t>Let</a:t>
            </a:r>
            <a:r>
              <a:rPr sz="1800" spc="-204" dirty="0">
                <a:latin typeface="Century Gothic"/>
                <a:cs typeface="Century Gothic"/>
              </a:rPr>
              <a:t>‟</a:t>
            </a:r>
            <a:r>
              <a:rPr sz="1800" spc="-204" dirty="0">
                <a:latin typeface="Verdana"/>
                <a:cs typeface="Verdana"/>
              </a:rPr>
              <a:t>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create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stripHTML()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method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String.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55"/>
              </a:lnSpc>
              <a:spcBef>
                <a:spcPts val="2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10" dirty="0">
                <a:latin typeface="Verdana"/>
                <a:cs typeface="Verdana"/>
              </a:rPr>
              <a:t>String.prototype.stripHTML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()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reTag 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/&lt;(?:.|\s)*?&gt;/g;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this.replace(reTag,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"");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spc="-25" dirty="0">
                <a:latin typeface="Verdana"/>
                <a:cs typeface="Verdana"/>
              </a:rPr>
              <a:t>};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Alternation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9905" y="5987584"/>
            <a:ext cx="170815" cy="303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472045" cy="4612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Alternation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match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single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regular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expression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several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possible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expressions.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alternation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same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ECMAScript </a:t>
            </a:r>
            <a:r>
              <a:rPr sz="2000" dirty="0">
                <a:latin typeface="Verdana"/>
                <a:cs typeface="Verdana"/>
              </a:rPr>
              <a:t>bitwise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pipe(|),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placed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between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two </a:t>
            </a:r>
            <a:r>
              <a:rPr sz="2000" dirty="0">
                <a:latin typeface="Verdana"/>
                <a:cs typeface="Verdana"/>
              </a:rPr>
              <a:t>independent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patterns.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15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reCatDog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/\b(cat</a:t>
            </a:r>
            <a:r>
              <a:rPr sz="1800" b="1" spc="-10" dirty="0">
                <a:latin typeface="Verdana"/>
                <a:cs typeface="Verdana"/>
              </a:rPr>
              <a:t>|</a:t>
            </a:r>
            <a:r>
              <a:rPr sz="1800" spc="-10" dirty="0">
                <a:latin typeface="Verdana"/>
                <a:cs typeface="Verdana"/>
              </a:rPr>
              <a:t>dog)\b/;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mouse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hotdog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.match(reCatDog);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array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cat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dog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pratical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example: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spc="-204" dirty="0">
                <a:latin typeface="Verdana"/>
                <a:cs typeface="Verdana"/>
              </a:rPr>
              <a:t>Let</a:t>
            </a:r>
            <a:r>
              <a:rPr sz="1800" spc="-204" dirty="0">
                <a:latin typeface="Century Gothic"/>
                <a:cs typeface="Century Gothic"/>
              </a:rPr>
              <a:t>‟</a:t>
            </a:r>
            <a:r>
              <a:rPr sz="1800" spc="-204" dirty="0">
                <a:latin typeface="Verdana"/>
                <a:cs typeface="Verdana"/>
              </a:rPr>
              <a:t>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remove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inappropriate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input.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5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filterText(sText)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 marR="15811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reBadWords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/badword|anotherbadword/gi; 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sText.replace(reBadWords,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(sMatch)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sMatch.replace(/./g,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"*");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spc="-25" dirty="0">
                <a:latin typeface="Verdana"/>
                <a:cs typeface="Verdana"/>
              </a:rPr>
              <a:t>});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Lookaheads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56854" y="6432862"/>
            <a:ext cx="251460" cy="2425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latin typeface="Verdana"/>
                <a:cs typeface="Verdana"/>
              </a:rPr>
              <a:t>68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162165" cy="5017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i="1" dirty="0">
                <a:latin typeface="Verdana"/>
                <a:cs typeface="Verdana"/>
              </a:rPr>
              <a:t>Lookaheads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capture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group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of </a:t>
            </a:r>
            <a:r>
              <a:rPr sz="2000" dirty="0">
                <a:latin typeface="Verdana"/>
                <a:cs typeface="Verdana"/>
              </a:rPr>
              <a:t>characters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appear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before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another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</a:t>
            </a:r>
            <a:r>
              <a:rPr sz="2000" spc="-25" dirty="0">
                <a:latin typeface="Verdana"/>
                <a:cs typeface="Verdana"/>
              </a:rPr>
              <a:t> of </a:t>
            </a:r>
            <a:r>
              <a:rPr sz="2000" spc="-10" dirty="0">
                <a:latin typeface="Verdana"/>
                <a:cs typeface="Verdana"/>
              </a:rPr>
              <a:t>characters.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JavaScript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support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lookbehinds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Positive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lookaheads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Created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enclosing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patter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between (?=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).</a:t>
            </a:r>
            <a:endParaRPr sz="1800">
              <a:latin typeface="Verdana"/>
              <a:cs typeface="Verdana"/>
            </a:endParaRPr>
          </a:p>
          <a:p>
            <a:pPr marL="755015" marR="1009650" lvl="1" indent="-285750">
              <a:lnSpc>
                <a:spcPct val="99700"/>
              </a:lnSpc>
              <a:spcBef>
                <a:spcPts val="43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reBed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/(bed(</a:t>
            </a:r>
            <a:r>
              <a:rPr sz="1800" b="1" spc="-10" dirty="0">
                <a:latin typeface="Verdana"/>
                <a:cs typeface="Verdana"/>
              </a:rPr>
              <a:t>?=</a:t>
            </a:r>
            <a:r>
              <a:rPr sz="1800" spc="-10" dirty="0">
                <a:latin typeface="Verdana"/>
                <a:cs typeface="Verdana"/>
              </a:rPr>
              <a:t>room))/; 	alert(reBed.test("bedroom"));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true</a:t>
            </a:r>
            <a:r>
              <a:rPr sz="1800" spc="-10" dirty="0">
                <a:latin typeface="Century Gothic"/>
                <a:cs typeface="Century Gothic"/>
              </a:rPr>
              <a:t>” 	</a:t>
            </a:r>
            <a:r>
              <a:rPr sz="1800" spc="-10" dirty="0">
                <a:latin typeface="Verdana"/>
                <a:cs typeface="Verdana"/>
              </a:rPr>
              <a:t>alert(reBed.test("bedding"));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false</a:t>
            </a:r>
            <a:r>
              <a:rPr sz="1800" spc="-10" dirty="0">
                <a:latin typeface="Century Gothic"/>
                <a:cs typeface="Century Gothic"/>
              </a:rPr>
              <a:t>” 	</a:t>
            </a:r>
            <a:r>
              <a:rPr sz="1800" dirty="0">
                <a:latin typeface="Verdana"/>
                <a:cs typeface="Verdana"/>
              </a:rPr>
              <a:t>alert(RegExp.$1);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bed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065" lvl="2" indent="-227965">
              <a:lnSpc>
                <a:spcPct val="100000"/>
              </a:lnSpc>
              <a:spcBef>
                <a:spcPts val="45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lookahead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returned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" dirty="0">
                <a:latin typeface="Verdana"/>
                <a:cs typeface="Verdana"/>
              </a:rPr>
              <a:t> group.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Negative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lookaheads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Created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enclosing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patter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between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(?!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).</a:t>
            </a:r>
            <a:endParaRPr sz="1800">
              <a:latin typeface="Verdana"/>
              <a:cs typeface="Verdana"/>
            </a:endParaRPr>
          </a:p>
          <a:p>
            <a:pPr marL="755015" marR="941069" lvl="1" indent="-285750">
              <a:lnSpc>
                <a:spcPct val="994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reBed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/(bed(</a:t>
            </a:r>
            <a:r>
              <a:rPr sz="1800" b="1" spc="-10" dirty="0">
                <a:latin typeface="Verdana"/>
                <a:cs typeface="Verdana"/>
              </a:rPr>
              <a:t>?!</a:t>
            </a:r>
            <a:r>
              <a:rPr sz="1800" spc="-10" dirty="0">
                <a:latin typeface="Verdana"/>
                <a:cs typeface="Verdana"/>
              </a:rPr>
              <a:t>room))/; 	alert(reBed.test("bedroom"));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false</a:t>
            </a:r>
            <a:r>
              <a:rPr sz="1800" spc="-10" dirty="0">
                <a:latin typeface="Century Gothic"/>
                <a:cs typeface="Century Gothic"/>
              </a:rPr>
              <a:t>” 	</a:t>
            </a:r>
            <a:r>
              <a:rPr sz="1800" spc="-10" dirty="0">
                <a:latin typeface="Verdana"/>
                <a:cs typeface="Verdana"/>
              </a:rPr>
              <a:t>alert(reBed.test("bedding"));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true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Boundaries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811770" cy="495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i="1" dirty="0">
                <a:latin typeface="Verdana"/>
                <a:cs typeface="Verdana"/>
              </a:rPr>
              <a:t>Boundaries</a:t>
            </a:r>
            <a:r>
              <a:rPr sz="2000" i="1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indicate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location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pattern.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^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Beginning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line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$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End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line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boundary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\B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Verdana"/>
                <a:cs typeface="Verdana"/>
              </a:rPr>
              <a:t>Non-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boundary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09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Examples:</a:t>
            </a:r>
            <a:endParaRPr sz="2000">
              <a:latin typeface="Verdana"/>
              <a:cs typeface="Verdana"/>
            </a:endParaRPr>
          </a:p>
          <a:p>
            <a:pPr marL="755015" marR="1085215" lvl="1" indent="-285750">
              <a:lnSpc>
                <a:spcPct val="99500"/>
              </a:lnSpc>
              <a:spcBef>
                <a:spcPts val="4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reLastWord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/(\w+)\.</a:t>
            </a:r>
            <a:r>
              <a:rPr sz="1800" b="1" spc="-10" dirty="0">
                <a:latin typeface="Verdana"/>
                <a:cs typeface="Verdana"/>
              </a:rPr>
              <a:t>$</a:t>
            </a:r>
            <a:r>
              <a:rPr sz="1800" spc="-10" dirty="0">
                <a:latin typeface="Verdana"/>
                <a:cs typeface="Verdana"/>
              </a:rPr>
              <a:t>/; 	</a:t>
            </a:r>
            <a:r>
              <a:rPr sz="1800" dirty="0">
                <a:latin typeface="Verdana"/>
                <a:cs typeface="Verdana"/>
              </a:rPr>
              <a:t>reLastWord.test(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Important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one.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 	</a:t>
            </a:r>
            <a:r>
              <a:rPr sz="1800" dirty="0">
                <a:latin typeface="Verdana"/>
                <a:cs typeface="Verdana"/>
              </a:rPr>
              <a:t>alter(RegExp.$1);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one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755015" marR="1026794" lvl="1" indent="-285750">
              <a:lnSpc>
                <a:spcPct val="101099"/>
              </a:lnSpc>
              <a:spcBef>
                <a:spcPts val="40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second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third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fourth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fifth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 	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reWords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</a:t>
            </a:r>
            <a:r>
              <a:rPr sz="1800" b="1" spc="-10" dirty="0">
                <a:latin typeface="Verdana"/>
                <a:cs typeface="Verdana"/>
              </a:rPr>
              <a:t>\b</a:t>
            </a:r>
            <a:r>
              <a:rPr sz="1800" spc="-10" dirty="0">
                <a:latin typeface="Verdana"/>
                <a:cs typeface="Verdana"/>
              </a:rPr>
              <a:t>(\S+?)</a:t>
            </a:r>
            <a:r>
              <a:rPr sz="1800" b="1" spc="-10" dirty="0">
                <a:latin typeface="Verdana"/>
                <a:cs typeface="Verdana"/>
              </a:rPr>
              <a:t>\b</a:t>
            </a:r>
            <a:r>
              <a:rPr sz="1800" spc="-10" dirty="0">
                <a:latin typeface="Verdana"/>
                <a:cs typeface="Verdana"/>
              </a:rPr>
              <a:t>/g;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strMatch.match(reWords);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array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second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third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fourth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fifth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0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1155700" marR="1139190" lvl="2" indent="-228600">
              <a:lnSpc>
                <a:spcPct val="100000"/>
              </a:lnSpc>
              <a:spcBef>
                <a:spcPts val="45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It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easier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class(\w): 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reWords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/(w+)/g;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Multiline</a:t>
            </a:r>
            <a:r>
              <a:rPr spc="-85" dirty="0"/>
              <a:t> </a:t>
            </a:r>
            <a:r>
              <a:rPr spc="-20" dirty="0"/>
              <a:t>Mode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620000" cy="4304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multiple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lines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contained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string,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can </a:t>
            </a:r>
            <a:r>
              <a:rPr sz="2000" dirty="0">
                <a:latin typeface="Verdana"/>
                <a:cs typeface="Verdana"/>
              </a:rPr>
              <a:t>specify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multiline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mode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adding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m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options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regular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expression.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00007C"/>
              </a:buClr>
              <a:buFont typeface="Wingdings"/>
              <a:buChar char=""/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Examples:</a:t>
            </a:r>
            <a:endParaRPr sz="2000">
              <a:latin typeface="Verdana"/>
              <a:cs typeface="Verdana"/>
            </a:endParaRPr>
          </a:p>
          <a:p>
            <a:pPr marL="755015" marR="500380" lvl="1" indent="-285750">
              <a:lnSpc>
                <a:spcPct val="101099"/>
              </a:lnSpc>
              <a:spcBef>
                <a:spcPts val="39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second\nthird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fourth\nfifth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 	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reWords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/(\w+)$/g;</a:t>
            </a:r>
            <a:endParaRPr sz="1800">
              <a:latin typeface="Verdana"/>
              <a:cs typeface="Verdana"/>
            </a:endParaRPr>
          </a:p>
          <a:p>
            <a:pPr marL="756285" marR="111125">
              <a:lnSpc>
                <a:spcPts val="2140"/>
              </a:lnSpc>
              <a:spcBef>
                <a:spcPts val="85"/>
              </a:spcBef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strMatch.match(reWords);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returns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array </a:t>
            </a:r>
            <a:r>
              <a:rPr sz="1800" dirty="0">
                <a:latin typeface="Verdana"/>
                <a:cs typeface="Verdana"/>
              </a:rPr>
              <a:t>contains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Verdana"/>
              <a:cs typeface="Verdana"/>
            </a:endParaRPr>
          </a:p>
          <a:p>
            <a:pPr marL="755015" marR="500380" lvl="1" indent="-285750">
              <a:lnSpc>
                <a:spcPct val="101099"/>
              </a:lnSpc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first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second\nthird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fourth\nfifth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 	</a:t>
            </a:r>
            <a:r>
              <a:rPr sz="1800" dirty="0">
                <a:latin typeface="Verdana"/>
                <a:cs typeface="Verdana"/>
              </a:rPr>
              <a:t>var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reWords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/(\w+)$/g</a:t>
            </a:r>
            <a:r>
              <a:rPr sz="1800" b="1" spc="-1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strMatch.match(reWords);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//returns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array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second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fourth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9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sixth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RegExp</a:t>
            </a:r>
            <a:r>
              <a:rPr spc="-100" dirty="0"/>
              <a:t> </a:t>
            </a:r>
            <a:r>
              <a:rPr spc="-10" dirty="0"/>
              <a:t>Object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594600" cy="487299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Instance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properties: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global,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ignore,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lastIndex,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multiline,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Static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properties:</a:t>
            </a:r>
            <a:endParaRPr sz="2000">
              <a:latin typeface="Verdana"/>
              <a:cs typeface="Verdana"/>
            </a:endParaRPr>
          </a:p>
          <a:p>
            <a:pPr marL="755015" marR="116839" lvl="1" indent="-285750">
              <a:lnSpc>
                <a:spcPts val="2140"/>
              </a:lnSpc>
              <a:spcBef>
                <a:spcPts val="5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input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($_),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lastMatch($&amp;),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lastParen($+),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leftContext($`), 	rightContext($</a:t>
            </a:r>
            <a:r>
              <a:rPr sz="1800" spc="-10" dirty="0">
                <a:latin typeface="Century Gothic"/>
                <a:cs typeface="Century Gothic"/>
              </a:rPr>
              <a:t>‟</a:t>
            </a:r>
            <a:r>
              <a:rPr sz="1800" spc="-1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38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Backrefercences: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$1,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$2,...,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$9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 </a:t>
            </a:r>
            <a:r>
              <a:rPr sz="1800" spc="-10" dirty="0">
                <a:latin typeface="Verdana"/>
                <a:cs typeface="Verdana"/>
              </a:rPr>
              <a:t>example:</a:t>
            </a:r>
            <a:endParaRPr sz="1800">
              <a:latin typeface="Verdana"/>
              <a:cs typeface="Verdana"/>
            </a:endParaRPr>
          </a:p>
          <a:p>
            <a:pPr marL="1155700" marR="1629410" lvl="2" indent="-228600">
              <a:lnSpc>
                <a:spcPts val="2140"/>
              </a:lnSpc>
              <a:spcBef>
                <a:spcPts val="52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reShort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/(s)ho(rt)/g; </a:t>
            </a:r>
            <a:r>
              <a:rPr sz="1800" dirty="0">
                <a:latin typeface="Verdana"/>
                <a:cs typeface="Verdana"/>
              </a:rPr>
              <a:t>reShort.test("bbq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short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barbecue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1155700" marR="5080">
              <a:lnSpc>
                <a:spcPts val="216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alert(RegExp.$_);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bbq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short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barbecue</a:t>
            </a:r>
            <a:r>
              <a:rPr sz="1800" spc="-10" dirty="0">
                <a:latin typeface="Century Gothic"/>
                <a:cs typeface="Century Gothic"/>
              </a:rPr>
              <a:t>” </a:t>
            </a:r>
            <a:r>
              <a:rPr sz="1800" dirty="0">
                <a:latin typeface="Verdana"/>
                <a:cs typeface="Verdana"/>
              </a:rPr>
              <a:t>alert(RegExp[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$&amp;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]);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short</a:t>
            </a:r>
            <a:r>
              <a:rPr sz="1800" spc="-10" dirty="0">
                <a:latin typeface="Century Gothic"/>
                <a:cs typeface="Century Gothic"/>
              </a:rPr>
              <a:t>” </a:t>
            </a:r>
            <a:r>
              <a:rPr sz="1800" dirty="0">
                <a:latin typeface="Verdana"/>
                <a:cs typeface="Verdana"/>
              </a:rPr>
              <a:t>alert(RegExp[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$+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]);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rt</a:t>
            </a:r>
            <a:r>
              <a:rPr sz="1800" spc="-20" dirty="0">
                <a:latin typeface="Century Gothic"/>
                <a:cs typeface="Century Gothic"/>
              </a:rPr>
              <a:t>” </a:t>
            </a:r>
            <a:r>
              <a:rPr sz="1800" spc="-10" dirty="0">
                <a:latin typeface="Verdana"/>
                <a:cs typeface="Verdana"/>
              </a:rPr>
              <a:t>alert(RegExp.leftContext);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bbq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700">
              <a:lnSpc>
                <a:spcPts val="2090"/>
              </a:lnSpc>
            </a:pPr>
            <a:r>
              <a:rPr sz="1800" spc="-10" dirty="0">
                <a:latin typeface="Verdana"/>
                <a:cs typeface="Verdana"/>
              </a:rPr>
              <a:t>alert(RegExp.rightContext);</a:t>
            </a:r>
            <a:r>
              <a:rPr sz="1800" dirty="0">
                <a:latin typeface="Verdana"/>
                <a:cs typeface="Verdana"/>
              </a:rPr>
              <a:t> //outputs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spc="1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barbecue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alert(RegExp.$1);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“</a:t>
            </a:r>
            <a:r>
              <a:rPr sz="1800" spc="-25" dirty="0">
                <a:latin typeface="Verdana"/>
                <a:cs typeface="Verdana"/>
              </a:rPr>
              <a:t>s</a:t>
            </a:r>
            <a:r>
              <a:rPr sz="1800" spc="-25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  <a:p>
            <a:pPr marL="1155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alert(RegExp.$2);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//outputs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“</a:t>
            </a:r>
            <a:r>
              <a:rPr sz="1800" spc="-20" dirty="0">
                <a:latin typeface="Verdana"/>
                <a:cs typeface="Verdana"/>
              </a:rPr>
              <a:t>rt</a:t>
            </a:r>
            <a:r>
              <a:rPr sz="1800" spc="-20" dirty="0">
                <a:latin typeface="Century Gothic"/>
                <a:cs typeface="Century Gothic"/>
              </a:rPr>
              <a:t>”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" dirty="0"/>
              <a:t> </a:t>
            </a:r>
            <a:r>
              <a:rPr dirty="0"/>
              <a:t>Practical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339743"/>
            <a:ext cx="7916545" cy="49187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Validating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e-</a:t>
            </a:r>
            <a:r>
              <a:rPr sz="2000" dirty="0">
                <a:latin typeface="Verdana"/>
                <a:cs typeface="Verdana"/>
              </a:rPr>
              <a:t>mail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addresses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An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valid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e-</a:t>
            </a:r>
            <a:r>
              <a:rPr sz="1800" dirty="0">
                <a:latin typeface="Verdana"/>
                <a:cs typeface="Verdana"/>
              </a:rPr>
              <a:t>mail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satisfies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that: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at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least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must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precede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at(@)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symbol,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  <a:tab pos="2675255" algn="l"/>
              </a:tabLst>
            </a:pP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least</a:t>
            </a:r>
            <a:r>
              <a:rPr sz="1800" dirty="0">
                <a:latin typeface="Verdana"/>
                <a:cs typeface="Verdana"/>
              </a:rPr>
              <a:t>	three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must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after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it,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second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must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period.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2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regular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following: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reEmail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/^(?:\w+\.?)*\w+@(?:\w+\.)+\w+$/;</a:t>
            </a:r>
            <a:endParaRPr sz="1800">
              <a:latin typeface="Verdana"/>
              <a:cs typeface="Verdana"/>
            </a:endParaRPr>
          </a:p>
          <a:p>
            <a:pPr marL="1155700" marR="379095" lvl="2" indent="-228600">
              <a:lnSpc>
                <a:spcPts val="1980"/>
              </a:lnSpc>
              <a:spcBef>
                <a:spcPts val="39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(?:\w+\.?)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by </a:t>
            </a:r>
            <a:r>
              <a:rPr sz="1800" dirty="0">
                <a:latin typeface="Verdana"/>
                <a:cs typeface="Verdana"/>
              </a:rPr>
              <a:t>zero 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 </a:t>
            </a:r>
            <a:r>
              <a:rPr sz="1800" spc="-10" dirty="0">
                <a:latin typeface="Verdana"/>
                <a:cs typeface="Verdana"/>
              </a:rPr>
              <a:t>period.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14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\w+@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always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before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@.</a:t>
            </a:r>
            <a:endParaRPr sz="1800">
              <a:latin typeface="Verdana"/>
              <a:cs typeface="Verdana"/>
            </a:endParaRPr>
          </a:p>
          <a:p>
            <a:pPr marL="1155700" marR="5080" lvl="2" indent="-228600">
              <a:lnSpc>
                <a:spcPts val="198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(?:\w+\.)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followed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one </a:t>
            </a:r>
            <a:r>
              <a:rPr sz="1800" spc="-10" dirty="0">
                <a:latin typeface="Verdana"/>
                <a:cs typeface="Verdana"/>
              </a:rPr>
              <a:t>period.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14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\w+$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must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character.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ts val="2055"/>
              </a:lnSpc>
              <a:spcBef>
                <a:spcPts val="25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isValidEmail(sText)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var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reEmail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/^(?:\w+\.?)*\w+@(?:\w+\.)+\w+$/;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reEmail.test(sText);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4502" y="180847"/>
            <a:ext cx="1542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Regular</a:t>
            </a:r>
            <a:r>
              <a:rPr sz="1200" b="1" i="1" spc="-15" dirty="0">
                <a:latin typeface="Arial"/>
                <a:cs typeface="Arial"/>
              </a:rPr>
              <a:t> </a:t>
            </a:r>
            <a:r>
              <a:rPr sz="1200" b="1" i="1" spc="-10" dirty="0">
                <a:latin typeface="Arial"/>
                <a:cs typeface="Arial"/>
              </a:rPr>
              <a:t>Expressions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4816" y="2674112"/>
            <a:ext cx="29870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Error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Handling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Handling</a:t>
            </a:r>
            <a:r>
              <a:rPr spc="-50" dirty="0"/>
              <a:t> </a:t>
            </a:r>
            <a:r>
              <a:rPr spc="-10" dirty="0"/>
              <a:t>Errors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0540" y="1339724"/>
            <a:ext cx="8074659" cy="40525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offers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specific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ways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handle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errors:</a:t>
            </a:r>
            <a:endParaRPr sz="2000">
              <a:latin typeface="Verdana"/>
              <a:cs typeface="Verdana"/>
            </a:endParaRPr>
          </a:p>
          <a:p>
            <a:pPr marL="7810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81050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BOM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onerror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event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handler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both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7816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window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images;</a:t>
            </a:r>
            <a:endParaRPr sz="1800">
              <a:latin typeface="Verdana"/>
              <a:cs typeface="Verdana"/>
            </a:endParaRPr>
          </a:p>
          <a:p>
            <a:pPr marL="780415" marR="526415" lvl="1" indent="-285750">
              <a:lnSpc>
                <a:spcPct val="100000"/>
              </a:lnSpc>
              <a:spcBef>
                <a:spcPts val="43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816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3</a:t>
            </a:r>
            <a:r>
              <a:rPr sz="1800" baseline="25462" dirty="0">
                <a:latin typeface="Verdana"/>
                <a:cs typeface="Verdana"/>
              </a:rPr>
              <a:t>rd</a:t>
            </a:r>
            <a:r>
              <a:rPr sz="1800" spc="262" baseline="25462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edition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implements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	</a:t>
            </a:r>
            <a:r>
              <a:rPr sz="1800" i="1" dirty="0">
                <a:latin typeface="Verdana"/>
                <a:cs typeface="Verdana"/>
              </a:rPr>
              <a:t>try...catch...finally</a:t>
            </a:r>
            <a:r>
              <a:rPr sz="1800" i="1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well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throw</a:t>
            </a:r>
            <a:r>
              <a:rPr sz="1800" i="1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statement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to 	</a:t>
            </a:r>
            <a:r>
              <a:rPr sz="1800" dirty="0">
                <a:latin typeface="Verdana"/>
                <a:cs typeface="Verdana"/>
              </a:rPr>
              <a:t>deal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exceptions.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880"/>
              </a:spcBef>
              <a:buClr>
                <a:srgbClr val="9999CC"/>
              </a:buClr>
              <a:buFont typeface="Wingdings"/>
              <a:buChar char=""/>
            </a:pPr>
            <a:endParaRPr sz="1800">
              <a:latin typeface="Verdana"/>
              <a:cs typeface="Verdana"/>
            </a:endParaRPr>
          </a:p>
          <a:p>
            <a:pPr marL="380365" indent="-342265">
              <a:lnSpc>
                <a:spcPct val="100000"/>
              </a:lnSpc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</a:tabLst>
            </a:pPr>
            <a:r>
              <a:rPr sz="2000" dirty="0">
                <a:latin typeface="Verdana"/>
                <a:cs typeface="Verdana"/>
              </a:rPr>
              <a:t>Errors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vs.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Exceptions</a:t>
            </a:r>
            <a:endParaRPr sz="2000">
              <a:latin typeface="Verdana"/>
              <a:cs typeface="Verdana"/>
            </a:endParaRPr>
          </a:p>
          <a:p>
            <a:pPr marL="780415" marR="1778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81685" algn="l"/>
              </a:tabLst>
            </a:pPr>
            <a:r>
              <a:rPr sz="1800" i="1" dirty="0">
                <a:latin typeface="Verdana"/>
                <a:cs typeface="Verdana"/>
              </a:rPr>
              <a:t>Syntax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errors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called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parsing</a:t>
            </a:r>
            <a:r>
              <a:rPr sz="1800" i="1" spc="-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errors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compile</a:t>
            </a:r>
            <a:r>
              <a:rPr sz="1800" spc="-20" dirty="0">
                <a:latin typeface="Verdana"/>
                <a:cs typeface="Verdana"/>
              </a:rPr>
              <a:t> time 	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traditional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programming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languages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interpret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time</a:t>
            </a:r>
            <a:r>
              <a:rPr sz="1800" spc="500" dirty="0">
                <a:latin typeface="Verdana"/>
                <a:cs typeface="Verdana"/>
              </a:rPr>
              <a:t> 	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JavaScript.</a:t>
            </a:r>
            <a:endParaRPr sz="1800">
              <a:latin typeface="Verdana"/>
              <a:cs typeface="Verdana"/>
            </a:endParaRPr>
          </a:p>
          <a:p>
            <a:pPr marL="780415" marR="104139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81685" algn="l"/>
              </a:tabLst>
            </a:pPr>
            <a:r>
              <a:rPr sz="1800" i="1" dirty="0">
                <a:latin typeface="Verdana"/>
                <a:cs typeface="Verdana"/>
              </a:rPr>
              <a:t>Runtime</a:t>
            </a:r>
            <a:r>
              <a:rPr sz="1800" i="1" spc="-5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errors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called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exceptions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during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execution 	</a:t>
            </a:r>
            <a:r>
              <a:rPr sz="1800" dirty="0">
                <a:latin typeface="Verdana"/>
                <a:cs typeface="Verdana"/>
              </a:rPr>
              <a:t>after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compilation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interpretation.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5606" y="180847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Error</a:t>
            </a:r>
            <a:r>
              <a:rPr sz="1200" b="1" i="1" spc="-10" dirty="0">
                <a:latin typeface="Arial"/>
                <a:cs typeface="Arial"/>
              </a:rPr>
              <a:t> Handling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onerror</a:t>
            </a:r>
            <a:r>
              <a:rPr spc="-80" dirty="0"/>
              <a:t> </a:t>
            </a:r>
            <a:r>
              <a:rPr dirty="0"/>
              <a:t>Event</a:t>
            </a:r>
            <a:r>
              <a:rPr spc="-65" dirty="0"/>
              <a:t> </a:t>
            </a:r>
            <a:r>
              <a:rPr spc="-10" dirty="0"/>
              <a:t>Handler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1826"/>
            <a:ext cx="7781290" cy="450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onerror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event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fired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window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whenever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exception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occurs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page.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window.onerror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{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occurred.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dirty="0">
                <a:latin typeface="Verdana"/>
                <a:cs typeface="Verdana"/>
              </a:rPr>
              <a:t>);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hide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browser</a:t>
            </a:r>
            <a:r>
              <a:rPr sz="1800" spc="-110" dirty="0">
                <a:latin typeface="Century Gothic"/>
                <a:cs typeface="Century Gothic"/>
              </a:rPr>
              <a:t>‟</a:t>
            </a:r>
            <a:r>
              <a:rPr sz="1800" spc="-11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message,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true.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Error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information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three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parameters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onerror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event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handler: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message,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URL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number.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ts val="215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Window.onerror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function(sMsg,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sUrl,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sLine)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478915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alert(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occurred:\n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0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sMsg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\nURL: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95" dirty="0">
                <a:latin typeface="Century Gothic"/>
                <a:cs typeface="Century Gothic"/>
              </a:rPr>
              <a:t> </a:t>
            </a:r>
            <a:r>
              <a:rPr sz="1800" spc="-50" dirty="0">
                <a:latin typeface="Verdana"/>
                <a:cs typeface="Verdana"/>
              </a:rPr>
              <a:t>+</a:t>
            </a:r>
            <a:endParaRPr sz="1800">
              <a:latin typeface="Verdana"/>
              <a:cs typeface="Verdana"/>
            </a:endParaRPr>
          </a:p>
          <a:p>
            <a:pPr marL="1478915" marR="1858645" indent="324485">
              <a:lnSpc>
                <a:spcPts val="2180"/>
              </a:lnSpc>
              <a:spcBef>
                <a:spcPts val="55"/>
              </a:spcBef>
            </a:pPr>
            <a:r>
              <a:rPr sz="1800" dirty="0">
                <a:latin typeface="Verdana"/>
                <a:cs typeface="Verdana"/>
              </a:rPr>
              <a:t>sURL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\nLine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Number:</a:t>
            </a:r>
            <a:r>
              <a:rPr sz="1800" dirty="0">
                <a:latin typeface="Century Gothic"/>
                <a:cs typeface="Century Gothic"/>
              </a:rPr>
              <a:t>”</a:t>
            </a:r>
            <a:r>
              <a:rPr sz="1800" spc="114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sLine); </a:t>
            </a: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true;</a:t>
            </a:r>
            <a:endParaRPr sz="1800">
              <a:latin typeface="Verdana"/>
              <a:cs typeface="Verdana"/>
            </a:endParaRPr>
          </a:p>
          <a:p>
            <a:pPr marL="1155700">
              <a:lnSpc>
                <a:spcPts val="209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5015" marR="982980" lvl="1" indent="-285750">
              <a:lnSpc>
                <a:spcPct val="101099"/>
              </a:lnSpc>
              <a:spcBef>
                <a:spcPts val="38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45" dirty="0">
                <a:latin typeface="Verdana"/>
                <a:cs typeface="Verdana"/>
              </a:rPr>
              <a:t>image</a:t>
            </a:r>
            <a:r>
              <a:rPr sz="1800" spc="-145" dirty="0">
                <a:latin typeface="Century Gothic"/>
                <a:cs typeface="Century Gothic"/>
              </a:rPr>
              <a:t>‟</a:t>
            </a:r>
            <a:r>
              <a:rPr sz="1800" spc="-145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onerror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event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handler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45" dirty="0">
                <a:latin typeface="Verdana"/>
                <a:cs typeface="Verdana"/>
              </a:rPr>
              <a:t>doesn</a:t>
            </a:r>
            <a:r>
              <a:rPr sz="1800" spc="-145" dirty="0">
                <a:latin typeface="Century Gothic"/>
                <a:cs typeface="Century Gothic"/>
              </a:rPr>
              <a:t>‟</a:t>
            </a:r>
            <a:r>
              <a:rPr sz="1800" spc="-14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 pass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any 	</a:t>
            </a:r>
            <a:r>
              <a:rPr sz="1800" dirty="0">
                <a:latin typeface="Verdana"/>
                <a:cs typeface="Verdana"/>
              </a:rPr>
              <a:t>arguments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information.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5606" y="180847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Error</a:t>
            </a:r>
            <a:r>
              <a:rPr sz="1200" b="1" i="1" spc="-10" dirty="0">
                <a:latin typeface="Arial"/>
                <a:cs typeface="Arial"/>
              </a:rPr>
              <a:t> Handling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try...catch</a:t>
            </a:r>
            <a:r>
              <a:rPr spc="-5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43"/>
            <a:ext cx="7909559" cy="48545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syntax: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ts val="2050"/>
              </a:lnSpc>
              <a:spcBef>
                <a:spcPts val="22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try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//code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run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catch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([exception])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//code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exception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occurs.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[finally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ts val="1945"/>
              </a:lnSpc>
            </a:pPr>
            <a:r>
              <a:rPr sz="1800" dirty="0">
                <a:latin typeface="Verdana"/>
                <a:cs typeface="Verdana"/>
              </a:rPr>
              <a:t>//code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always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executed.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ts val="2050"/>
              </a:lnSpc>
            </a:pPr>
            <a:r>
              <a:rPr sz="1800" spc="-25" dirty="0">
                <a:latin typeface="Verdana"/>
                <a:cs typeface="Verdana"/>
              </a:rPr>
              <a:t>}]</a:t>
            </a:r>
            <a:endParaRPr sz="1800">
              <a:latin typeface="Verdana"/>
              <a:cs typeface="Verdana"/>
            </a:endParaRPr>
          </a:p>
          <a:p>
            <a:pPr marL="755015" marR="5080" lvl="1" indent="-285750">
              <a:lnSpc>
                <a:spcPts val="1939"/>
              </a:lnSpc>
              <a:spcBef>
                <a:spcPts val="459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Unlike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ECMAScript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standard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catch 	</a:t>
            </a:r>
            <a:r>
              <a:rPr sz="1800" dirty="0">
                <a:latin typeface="Verdana"/>
                <a:cs typeface="Verdana"/>
              </a:rPr>
              <a:t>clause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try...catch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statement.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Error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Properties:</a:t>
            </a:r>
            <a:endParaRPr sz="20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00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name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0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indicating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error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message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Century Gothic"/>
                <a:cs typeface="Century Gothic"/>
              </a:rPr>
              <a:t>–</a:t>
            </a:r>
            <a:r>
              <a:rPr sz="1800" spc="114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actual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message</a:t>
            </a:r>
            <a:endParaRPr sz="18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254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Verdana"/>
                <a:cs typeface="Verdana"/>
              </a:rPr>
              <a:t>Subclasses:</a:t>
            </a:r>
            <a:endParaRPr sz="2000">
              <a:latin typeface="Verdana"/>
              <a:cs typeface="Verdana"/>
            </a:endParaRPr>
          </a:p>
          <a:p>
            <a:pPr marL="1155700" marR="732155" lvl="2" indent="-228600">
              <a:lnSpc>
                <a:spcPts val="1939"/>
              </a:lnSpc>
              <a:spcBef>
                <a:spcPts val="47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z="1800" dirty="0">
                <a:latin typeface="Verdana"/>
                <a:cs typeface="Verdana"/>
              </a:rPr>
              <a:t>EvalError,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RangeError,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ReferenceError,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SyntaxError, </a:t>
            </a:r>
            <a:r>
              <a:rPr sz="1800" dirty="0">
                <a:latin typeface="Verdana"/>
                <a:cs typeface="Verdana"/>
              </a:rPr>
              <a:t>TypeErro,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URIError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5606" y="180847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Error</a:t>
            </a:r>
            <a:r>
              <a:rPr sz="1200" b="1" i="1" spc="-10" dirty="0">
                <a:latin typeface="Arial"/>
                <a:cs typeface="Arial"/>
              </a:rPr>
              <a:t> Handling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Determining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Type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Error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39724"/>
            <a:ext cx="7901940" cy="50158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name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property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Error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object: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try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eval("a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++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b");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//causes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SyntaxError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catch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(oException)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(oException</a:t>
            </a:r>
            <a:r>
              <a:rPr sz="1800" b="1" dirty="0">
                <a:latin typeface="Verdana"/>
                <a:cs typeface="Verdana"/>
              </a:rPr>
              <a:t>.name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==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"SyntaxError")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alert("Syntax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Error: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oException</a:t>
            </a:r>
            <a:r>
              <a:rPr sz="1800" b="1" spc="-10" dirty="0">
                <a:latin typeface="Verdana"/>
                <a:cs typeface="Verdana"/>
              </a:rPr>
              <a:t>.message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alert("An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exception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occurred: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oException.message);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instanceof</a:t>
            </a:r>
            <a:r>
              <a:rPr sz="2000" i="1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name</a:t>
            </a:r>
            <a:r>
              <a:rPr sz="2000" spc="-25" dirty="0">
                <a:latin typeface="Verdana"/>
                <a:cs typeface="Verdana"/>
              </a:rPr>
              <a:t> of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different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errors:</a:t>
            </a:r>
            <a:endParaRPr sz="2000">
              <a:latin typeface="Verdana"/>
              <a:cs typeface="Verdana"/>
            </a:endParaRPr>
          </a:p>
          <a:p>
            <a:pPr marL="755650" marR="143891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(oException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instanceof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SyntaxError)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alert("Syntax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Error: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oException.message);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else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alert("An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exception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occurred: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oException.message);</a:t>
            </a:r>
            <a:endParaRPr sz="18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5606" y="180847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Error</a:t>
            </a:r>
            <a:r>
              <a:rPr sz="1200" b="1" i="1" spc="-10" dirty="0">
                <a:latin typeface="Arial"/>
                <a:cs typeface="Arial"/>
              </a:rPr>
              <a:t> Handling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1762" y="63"/>
            <a:ext cx="9012555" cy="546100"/>
            <a:chOff x="131762" y="63"/>
            <a:chExt cx="9012555" cy="546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750" y="134937"/>
              <a:ext cx="8731250" cy="2746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575" y="63"/>
              <a:ext cx="278130" cy="271780"/>
            </a:xfrm>
            <a:custGeom>
              <a:avLst/>
              <a:gdLst/>
              <a:ahLst/>
              <a:cxnLst/>
              <a:rect l="l" t="t" r="r" b="b"/>
              <a:pathLst>
                <a:path w="278130" h="271780">
                  <a:moveTo>
                    <a:pt x="138112" y="134874"/>
                  </a:moveTo>
                  <a:lnTo>
                    <a:pt x="0" y="134874"/>
                  </a:lnTo>
                  <a:lnTo>
                    <a:pt x="0" y="271399"/>
                  </a:lnTo>
                  <a:lnTo>
                    <a:pt x="138112" y="271399"/>
                  </a:lnTo>
                  <a:lnTo>
                    <a:pt x="138112" y="134874"/>
                  </a:lnTo>
                  <a:close/>
                </a:path>
                <a:path w="278130" h="271780">
                  <a:moveTo>
                    <a:pt x="277812" y="0"/>
                  </a:moveTo>
                  <a:lnTo>
                    <a:pt x="138112" y="0"/>
                  </a:lnTo>
                  <a:lnTo>
                    <a:pt x="138112" y="134874"/>
                  </a:lnTo>
                  <a:lnTo>
                    <a:pt x="277812" y="134874"/>
                  </a:lnTo>
                  <a:lnTo>
                    <a:pt x="277812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7687" y="134937"/>
              <a:ext cx="139700" cy="141605"/>
            </a:xfrm>
            <a:custGeom>
              <a:avLst/>
              <a:gdLst/>
              <a:ahLst/>
              <a:cxnLst/>
              <a:rect l="l" t="t" r="r" b="b"/>
              <a:pathLst>
                <a:path w="139700" h="141604">
                  <a:moveTo>
                    <a:pt x="139700" y="0"/>
                  </a:moveTo>
                  <a:lnTo>
                    <a:pt x="0" y="0"/>
                  </a:lnTo>
                  <a:lnTo>
                    <a:pt x="0" y="141287"/>
                  </a:lnTo>
                  <a:lnTo>
                    <a:pt x="139700" y="141287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37" y="274637"/>
              <a:ext cx="136525" cy="135255"/>
            </a:xfrm>
            <a:custGeom>
              <a:avLst/>
              <a:gdLst/>
              <a:ahLst/>
              <a:cxnLst/>
              <a:rect l="l" t="t" r="r" b="b"/>
              <a:pathLst>
                <a:path w="136525" h="135254">
                  <a:moveTo>
                    <a:pt x="0" y="134937"/>
                  </a:moveTo>
                  <a:lnTo>
                    <a:pt x="136525" y="134937"/>
                  </a:lnTo>
                  <a:lnTo>
                    <a:pt x="136525" y="0"/>
                  </a:lnTo>
                  <a:lnTo>
                    <a:pt x="0" y="0"/>
                  </a:lnTo>
                  <a:lnTo>
                    <a:pt x="0" y="13493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762" y="136588"/>
              <a:ext cx="141605" cy="138430"/>
            </a:xfrm>
            <a:custGeom>
              <a:avLst/>
              <a:gdLst/>
              <a:ahLst/>
              <a:cxnLst/>
              <a:rect l="l" t="t" r="r" b="b"/>
              <a:pathLst>
                <a:path w="141604" h="138429">
                  <a:moveTo>
                    <a:pt x="141287" y="0"/>
                  </a:moveTo>
                  <a:lnTo>
                    <a:pt x="0" y="0"/>
                  </a:lnTo>
                  <a:lnTo>
                    <a:pt x="0" y="138112"/>
                  </a:lnTo>
                  <a:lnTo>
                    <a:pt x="141287" y="138112"/>
                  </a:lnTo>
                  <a:lnTo>
                    <a:pt x="141287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637" y="271462"/>
              <a:ext cx="273050" cy="274955"/>
            </a:xfrm>
            <a:custGeom>
              <a:avLst/>
              <a:gdLst/>
              <a:ahLst/>
              <a:cxnLst/>
              <a:rect l="l" t="t" r="r" b="b"/>
              <a:pathLst>
                <a:path w="273050" h="274955">
                  <a:moveTo>
                    <a:pt x="273050" y="0"/>
                  </a:moveTo>
                  <a:lnTo>
                    <a:pt x="134937" y="0"/>
                  </a:lnTo>
                  <a:lnTo>
                    <a:pt x="134937" y="138112"/>
                  </a:lnTo>
                  <a:lnTo>
                    <a:pt x="0" y="138112"/>
                  </a:lnTo>
                  <a:lnTo>
                    <a:pt x="0" y="274637"/>
                  </a:lnTo>
                  <a:lnTo>
                    <a:pt x="136525" y="274637"/>
                  </a:lnTo>
                  <a:lnTo>
                    <a:pt x="136525" y="138112"/>
                  </a:lnTo>
                  <a:lnTo>
                    <a:pt x="273050" y="138112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Raising</a:t>
            </a:r>
            <a:r>
              <a:rPr spc="-50" dirty="0"/>
              <a:t> </a:t>
            </a:r>
            <a:r>
              <a:rPr spc="-10" dirty="0"/>
              <a:t>Exceptions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79905" y="6060736"/>
            <a:ext cx="170815" cy="303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341471"/>
            <a:ext cx="7938134" cy="47459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throw</a:t>
            </a:r>
            <a:r>
              <a:rPr sz="2000" i="1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statement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raise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exceptions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purposely.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syntax: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5650" algn="l"/>
              </a:tabLst>
            </a:pPr>
            <a:r>
              <a:rPr sz="1800" dirty="0">
                <a:latin typeface="Verdana"/>
                <a:cs typeface="Verdana"/>
              </a:rPr>
              <a:t>throw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error_object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755015" marR="111760" lvl="1" indent="-285750">
              <a:lnSpc>
                <a:spcPct val="100000"/>
              </a:lnSpc>
              <a:spcBef>
                <a:spcPts val="434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75628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error_object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string,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Boolean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value, 	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actual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object.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9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throw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“</a:t>
            </a:r>
            <a:r>
              <a:rPr sz="1800" spc="-10" dirty="0">
                <a:latin typeface="Verdana"/>
                <a:cs typeface="Verdana"/>
              </a:rPr>
              <a:t>error1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;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5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throw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5001;</a:t>
            </a:r>
            <a:endParaRPr sz="1800">
              <a:latin typeface="Verdana"/>
              <a:cs typeface="Verdana"/>
            </a:endParaRPr>
          </a:p>
          <a:p>
            <a:pPr marL="1155065" lvl="2" indent="-227965">
              <a:lnSpc>
                <a:spcPct val="100000"/>
              </a:lnSpc>
              <a:spcBef>
                <a:spcPts val="40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065" algn="l"/>
              </a:tabLst>
            </a:pPr>
            <a:r>
              <a:rPr sz="1800" dirty="0">
                <a:latin typeface="Verdana"/>
                <a:cs typeface="Verdana"/>
              </a:rPr>
              <a:t>throw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SyntaxError(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4" dirty="0">
                <a:latin typeface="Verdana"/>
                <a:cs typeface="Verdana"/>
              </a:rPr>
              <a:t>don</a:t>
            </a:r>
            <a:r>
              <a:rPr sz="1800" spc="-204" dirty="0">
                <a:latin typeface="Century Gothic"/>
                <a:cs typeface="Century Gothic"/>
              </a:rPr>
              <a:t>‟</a:t>
            </a:r>
            <a:r>
              <a:rPr sz="1800" spc="-204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like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your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syntax.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practical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example:</a:t>
            </a:r>
            <a:endParaRPr sz="2000">
              <a:latin typeface="Verdana"/>
              <a:cs typeface="Verdana"/>
            </a:endParaRPr>
          </a:p>
          <a:p>
            <a:pPr marL="755650" marR="3370579" lvl="1" indent="-285750">
              <a:lnSpc>
                <a:spcPct val="100000"/>
              </a:lnSpc>
              <a:spcBef>
                <a:spcPts val="440"/>
              </a:spcBef>
              <a:buClr>
                <a:srgbClr val="9999CC"/>
              </a:buClr>
              <a:buSzPct val="80555"/>
              <a:buFont typeface="Wingdings"/>
              <a:buChar char=""/>
              <a:tabLst>
                <a:tab pos="1079500" algn="l"/>
              </a:tabLst>
            </a:pP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addTwoNumbers(a,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b)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 	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(arguments.length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&lt;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2)</a:t>
            </a:r>
            <a:r>
              <a:rPr sz="1800" spc="-50" dirty="0">
                <a:latin typeface="Verdana"/>
                <a:cs typeface="Verdana"/>
              </a:rPr>
              <a:t> {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ts val="2135"/>
              </a:lnSpc>
            </a:pPr>
            <a:r>
              <a:rPr sz="1800" dirty="0">
                <a:latin typeface="Verdana"/>
                <a:cs typeface="Verdana"/>
              </a:rPr>
              <a:t>throw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Error(</a:t>
            </a:r>
            <a:r>
              <a:rPr sz="1800" dirty="0">
                <a:latin typeface="Century Gothic"/>
                <a:cs typeface="Century Gothic"/>
              </a:rPr>
              <a:t>“</a:t>
            </a:r>
            <a:r>
              <a:rPr sz="1800" dirty="0">
                <a:latin typeface="Verdana"/>
                <a:cs typeface="Verdana"/>
              </a:rPr>
              <a:t>Two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numbers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required.</a:t>
            </a:r>
            <a:r>
              <a:rPr sz="1800" spc="-10" dirty="0">
                <a:latin typeface="Century Gothic"/>
                <a:cs typeface="Century Gothic"/>
              </a:rPr>
              <a:t>”</a:t>
            </a:r>
            <a:r>
              <a:rPr sz="1800" spc="-10" dirty="0">
                <a:latin typeface="Verdana"/>
                <a:cs typeface="Verdana"/>
              </a:rPr>
              <a:t>);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Verdana"/>
                <a:cs typeface="Verdana"/>
              </a:rPr>
              <a:t>}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14039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return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b;</a:t>
            </a:r>
            <a:endParaRPr sz="1800">
              <a:latin typeface="Verdana"/>
              <a:cs typeface="Verdana"/>
            </a:endParaRPr>
          </a:p>
          <a:p>
            <a:pPr marL="1079500">
              <a:lnSpc>
                <a:spcPct val="100000"/>
              </a:lnSpc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5606" y="180847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Arial"/>
                <a:cs typeface="Arial"/>
              </a:rPr>
              <a:t>Error</a:t>
            </a:r>
            <a:r>
              <a:rPr sz="1200" b="1" i="1" spc="-10" dirty="0">
                <a:latin typeface="Arial"/>
                <a:cs typeface="Arial"/>
              </a:rPr>
              <a:t> Handling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5052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16151" y="1690624"/>
              <a:ext cx="7428230" cy="2533650"/>
            </a:xfrm>
            <a:custGeom>
              <a:avLst/>
              <a:gdLst/>
              <a:ahLst/>
              <a:cxnLst/>
              <a:rect l="l" t="t" r="r" b="b"/>
              <a:pathLst>
                <a:path w="7428230" h="2533650">
                  <a:moveTo>
                    <a:pt x="7427976" y="0"/>
                  </a:moveTo>
                  <a:lnTo>
                    <a:pt x="0" y="0"/>
                  </a:lnTo>
                  <a:lnTo>
                    <a:pt x="0" y="2533650"/>
                  </a:lnTo>
                  <a:lnTo>
                    <a:pt x="7427976" y="2533650"/>
                  </a:lnTo>
                  <a:lnTo>
                    <a:pt x="7427976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3087" y="3592575"/>
              <a:ext cx="568325" cy="631825"/>
            </a:xfrm>
            <a:custGeom>
              <a:avLst/>
              <a:gdLst/>
              <a:ahLst/>
              <a:cxnLst/>
              <a:rect l="l" t="t" r="r" b="b"/>
              <a:pathLst>
                <a:path w="568325" h="631825">
                  <a:moveTo>
                    <a:pt x="0" y="631825"/>
                  </a:moveTo>
                  <a:lnTo>
                    <a:pt x="568325" y="631825"/>
                  </a:lnTo>
                  <a:lnTo>
                    <a:pt x="568325" y="0"/>
                  </a:lnTo>
                  <a:lnTo>
                    <a:pt x="0" y="0"/>
                  </a:lnTo>
                  <a:lnTo>
                    <a:pt x="0" y="631825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6151" y="1066799"/>
              <a:ext cx="1151255" cy="1257935"/>
            </a:xfrm>
            <a:custGeom>
              <a:avLst/>
              <a:gdLst/>
              <a:ahLst/>
              <a:cxnLst/>
              <a:rect l="l" t="t" r="r" b="b"/>
              <a:pathLst>
                <a:path w="1151255" h="1257935">
                  <a:moveTo>
                    <a:pt x="565150" y="623887"/>
                  </a:moveTo>
                  <a:lnTo>
                    <a:pt x="0" y="623887"/>
                  </a:lnTo>
                  <a:lnTo>
                    <a:pt x="0" y="1257363"/>
                  </a:lnTo>
                  <a:lnTo>
                    <a:pt x="565150" y="1257363"/>
                  </a:lnTo>
                  <a:lnTo>
                    <a:pt x="565150" y="623887"/>
                  </a:lnTo>
                  <a:close/>
                </a:path>
                <a:path w="1151255" h="1257935">
                  <a:moveTo>
                    <a:pt x="1150937" y="0"/>
                  </a:moveTo>
                  <a:lnTo>
                    <a:pt x="565150" y="0"/>
                  </a:lnTo>
                  <a:lnTo>
                    <a:pt x="565150" y="623887"/>
                  </a:lnTo>
                  <a:lnTo>
                    <a:pt x="1150937" y="623887"/>
                  </a:lnTo>
                  <a:lnTo>
                    <a:pt x="1150937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1412" y="3592575"/>
              <a:ext cx="584200" cy="631825"/>
            </a:xfrm>
            <a:custGeom>
              <a:avLst/>
              <a:gdLst/>
              <a:ahLst/>
              <a:cxnLst/>
              <a:rect l="l" t="t" r="r" b="b"/>
              <a:pathLst>
                <a:path w="584200" h="631825">
                  <a:moveTo>
                    <a:pt x="0" y="631825"/>
                  </a:moveTo>
                  <a:lnTo>
                    <a:pt x="584200" y="631825"/>
                  </a:lnTo>
                  <a:lnTo>
                    <a:pt x="584200" y="0"/>
                  </a:lnTo>
                  <a:lnTo>
                    <a:pt x="0" y="0"/>
                  </a:lnTo>
                  <a:lnTo>
                    <a:pt x="0" y="631825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1301" y="1690687"/>
              <a:ext cx="586105" cy="643255"/>
            </a:xfrm>
            <a:custGeom>
              <a:avLst/>
              <a:gdLst/>
              <a:ahLst/>
              <a:cxnLst/>
              <a:rect l="l" t="t" r="r" b="b"/>
              <a:pathLst>
                <a:path w="586105" h="643255">
                  <a:moveTo>
                    <a:pt x="585787" y="0"/>
                  </a:moveTo>
                  <a:lnTo>
                    <a:pt x="0" y="0"/>
                  </a:lnTo>
                  <a:lnTo>
                    <a:pt x="0" y="642937"/>
                  </a:lnTo>
                  <a:lnTo>
                    <a:pt x="585787" y="642937"/>
                  </a:lnTo>
                  <a:lnTo>
                    <a:pt x="585787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41412" y="2324163"/>
              <a:ext cx="575310" cy="624205"/>
            </a:xfrm>
            <a:custGeom>
              <a:avLst/>
              <a:gdLst/>
              <a:ahLst/>
              <a:cxnLst/>
              <a:rect l="l" t="t" r="r" b="b"/>
              <a:pathLst>
                <a:path w="575310" h="624205">
                  <a:moveTo>
                    <a:pt x="0" y="623887"/>
                  </a:moveTo>
                  <a:lnTo>
                    <a:pt x="574738" y="623887"/>
                  </a:lnTo>
                  <a:lnTo>
                    <a:pt x="574738" y="0"/>
                  </a:lnTo>
                  <a:lnTo>
                    <a:pt x="0" y="0"/>
                  </a:lnTo>
                  <a:lnTo>
                    <a:pt x="0" y="62388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324163"/>
              <a:ext cx="582930" cy="633730"/>
            </a:xfrm>
            <a:custGeom>
              <a:avLst/>
              <a:gdLst/>
              <a:ahLst/>
              <a:cxnLst/>
              <a:rect l="l" t="t" r="r" b="b"/>
              <a:pathLst>
                <a:path w="582930" h="633730">
                  <a:moveTo>
                    <a:pt x="582612" y="0"/>
                  </a:moveTo>
                  <a:lnTo>
                    <a:pt x="0" y="0"/>
                  </a:lnTo>
                  <a:lnTo>
                    <a:pt x="0" y="633412"/>
                  </a:lnTo>
                  <a:lnTo>
                    <a:pt x="582612" y="633412"/>
                  </a:lnTo>
                  <a:lnTo>
                    <a:pt x="582612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6151" y="2324163"/>
              <a:ext cx="574675" cy="633730"/>
            </a:xfrm>
            <a:custGeom>
              <a:avLst/>
              <a:gdLst/>
              <a:ahLst/>
              <a:cxnLst/>
              <a:rect l="l" t="t" r="r" b="b"/>
              <a:pathLst>
                <a:path w="574675" h="633730">
                  <a:moveTo>
                    <a:pt x="574675" y="0"/>
                  </a:moveTo>
                  <a:lnTo>
                    <a:pt x="0" y="0"/>
                  </a:lnTo>
                  <a:lnTo>
                    <a:pt x="0" y="633412"/>
                  </a:lnTo>
                  <a:lnTo>
                    <a:pt x="574675" y="633412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087" y="2948050"/>
              <a:ext cx="568325" cy="644525"/>
            </a:xfrm>
            <a:custGeom>
              <a:avLst/>
              <a:gdLst/>
              <a:ahLst/>
              <a:cxnLst/>
              <a:rect l="l" t="t" r="r" b="b"/>
              <a:pathLst>
                <a:path w="568325" h="644525">
                  <a:moveTo>
                    <a:pt x="0" y="644525"/>
                  </a:moveTo>
                  <a:lnTo>
                    <a:pt x="568325" y="644525"/>
                  </a:lnTo>
                  <a:lnTo>
                    <a:pt x="568325" y="0"/>
                  </a:lnTo>
                  <a:lnTo>
                    <a:pt x="0" y="0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1412" y="2948050"/>
              <a:ext cx="584200" cy="644525"/>
            </a:xfrm>
            <a:custGeom>
              <a:avLst/>
              <a:gdLst/>
              <a:ahLst/>
              <a:cxnLst/>
              <a:rect l="l" t="t" r="r" b="b"/>
              <a:pathLst>
                <a:path w="584200" h="644525">
                  <a:moveTo>
                    <a:pt x="584200" y="0"/>
                  </a:moveTo>
                  <a:lnTo>
                    <a:pt x="0" y="0"/>
                  </a:lnTo>
                  <a:lnTo>
                    <a:pt x="0" y="644525"/>
                  </a:lnTo>
                  <a:lnTo>
                    <a:pt x="584200" y="64452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483477" y="2674112"/>
            <a:ext cx="22764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08733" y="4235043"/>
            <a:ext cx="7105650" cy="14922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90"/>
              </a:spcBef>
            </a:pPr>
            <a:r>
              <a:rPr sz="2000" dirty="0">
                <a:latin typeface="Verdana"/>
                <a:cs typeface="Verdana"/>
              </a:rPr>
              <a:t>Professional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Web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Developers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Century Gothic"/>
                <a:cs typeface="Century Gothic"/>
              </a:rPr>
              <a:t>–</a:t>
            </a:r>
            <a:r>
              <a:rPr sz="2000" spc="12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Verdana"/>
                <a:cs typeface="Verdana"/>
              </a:rPr>
              <a:t>wrox.com</a:t>
            </a:r>
            <a:endParaRPr sz="2000">
              <a:latin typeface="Verdana"/>
              <a:cs typeface="Verdana"/>
            </a:endParaRPr>
          </a:p>
          <a:p>
            <a:pPr marL="2583815" marR="5080" indent="488950" algn="r">
              <a:lnSpc>
                <a:spcPct val="120000"/>
              </a:lnSpc>
              <a:spcBef>
                <a:spcPts val="10"/>
              </a:spcBef>
            </a:pPr>
            <a:r>
              <a:rPr sz="2000" spc="-10" dirty="0">
                <a:latin typeface="Verdana"/>
                <a:cs typeface="Verdana"/>
                <a:hlinkClick r:id="rId3"/>
              </a:rPr>
              <a:t>http://javascript.crockford.com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  <a:hlinkClick r:id="rId4"/>
              </a:rPr>
              <a:t>http://www.ecma-international.org</a:t>
            </a:r>
            <a:endParaRPr sz="2000">
              <a:latin typeface="Verdana"/>
              <a:cs typeface="Verdana"/>
            </a:endParaRPr>
          </a:p>
          <a:p>
            <a:pPr marR="6985" algn="r">
              <a:lnSpc>
                <a:spcPct val="100000"/>
              </a:lnSpc>
              <a:spcBef>
                <a:spcPts val="484"/>
              </a:spcBef>
            </a:pPr>
            <a:r>
              <a:rPr sz="2000" spc="-10" dirty="0">
                <a:latin typeface="Verdana"/>
                <a:cs typeface="Verdana"/>
                <a:hlinkClick r:id="rId5"/>
              </a:rPr>
              <a:t>www.wikipedia.com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5052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16151" y="1690624"/>
              <a:ext cx="7428230" cy="2533650"/>
            </a:xfrm>
            <a:custGeom>
              <a:avLst/>
              <a:gdLst/>
              <a:ahLst/>
              <a:cxnLst/>
              <a:rect l="l" t="t" r="r" b="b"/>
              <a:pathLst>
                <a:path w="7428230" h="2533650">
                  <a:moveTo>
                    <a:pt x="7427976" y="0"/>
                  </a:moveTo>
                  <a:lnTo>
                    <a:pt x="0" y="0"/>
                  </a:lnTo>
                  <a:lnTo>
                    <a:pt x="0" y="2533650"/>
                  </a:lnTo>
                  <a:lnTo>
                    <a:pt x="7427976" y="2533650"/>
                  </a:lnTo>
                  <a:lnTo>
                    <a:pt x="7427976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3087" y="3592575"/>
              <a:ext cx="568325" cy="631825"/>
            </a:xfrm>
            <a:custGeom>
              <a:avLst/>
              <a:gdLst/>
              <a:ahLst/>
              <a:cxnLst/>
              <a:rect l="l" t="t" r="r" b="b"/>
              <a:pathLst>
                <a:path w="568325" h="631825">
                  <a:moveTo>
                    <a:pt x="0" y="631825"/>
                  </a:moveTo>
                  <a:lnTo>
                    <a:pt x="568325" y="631825"/>
                  </a:lnTo>
                  <a:lnTo>
                    <a:pt x="568325" y="0"/>
                  </a:lnTo>
                  <a:lnTo>
                    <a:pt x="0" y="0"/>
                  </a:lnTo>
                  <a:lnTo>
                    <a:pt x="0" y="631825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6151" y="1066799"/>
              <a:ext cx="1151255" cy="1257935"/>
            </a:xfrm>
            <a:custGeom>
              <a:avLst/>
              <a:gdLst/>
              <a:ahLst/>
              <a:cxnLst/>
              <a:rect l="l" t="t" r="r" b="b"/>
              <a:pathLst>
                <a:path w="1151255" h="1257935">
                  <a:moveTo>
                    <a:pt x="565150" y="623887"/>
                  </a:moveTo>
                  <a:lnTo>
                    <a:pt x="0" y="623887"/>
                  </a:lnTo>
                  <a:lnTo>
                    <a:pt x="0" y="1257363"/>
                  </a:lnTo>
                  <a:lnTo>
                    <a:pt x="565150" y="1257363"/>
                  </a:lnTo>
                  <a:lnTo>
                    <a:pt x="565150" y="623887"/>
                  </a:lnTo>
                  <a:close/>
                </a:path>
                <a:path w="1151255" h="1257935">
                  <a:moveTo>
                    <a:pt x="1150937" y="0"/>
                  </a:moveTo>
                  <a:lnTo>
                    <a:pt x="565150" y="0"/>
                  </a:lnTo>
                  <a:lnTo>
                    <a:pt x="565150" y="623887"/>
                  </a:lnTo>
                  <a:lnTo>
                    <a:pt x="1150937" y="623887"/>
                  </a:lnTo>
                  <a:lnTo>
                    <a:pt x="1150937" y="0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1412" y="3592575"/>
              <a:ext cx="584200" cy="631825"/>
            </a:xfrm>
            <a:custGeom>
              <a:avLst/>
              <a:gdLst/>
              <a:ahLst/>
              <a:cxnLst/>
              <a:rect l="l" t="t" r="r" b="b"/>
              <a:pathLst>
                <a:path w="584200" h="631825">
                  <a:moveTo>
                    <a:pt x="0" y="631825"/>
                  </a:moveTo>
                  <a:lnTo>
                    <a:pt x="584200" y="631825"/>
                  </a:lnTo>
                  <a:lnTo>
                    <a:pt x="584200" y="0"/>
                  </a:lnTo>
                  <a:lnTo>
                    <a:pt x="0" y="0"/>
                  </a:lnTo>
                  <a:lnTo>
                    <a:pt x="0" y="631825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1301" y="1690687"/>
              <a:ext cx="586105" cy="643255"/>
            </a:xfrm>
            <a:custGeom>
              <a:avLst/>
              <a:gdLst/>
              <a:ahLst/>
              <a:cxnLst/>
              <a:rect l="l" t="t" r="r" b="b"/>
              <a:pathLst>
                <a:path w="586105" h="643255">
                  <a:moveTo>
                    <a:pt x="585787" y="0"/>
                  </a:moveTo>
                  <a:lnTo>
                    <a:pt x="0" y="0"/>
                  </a:lnTo>
                  <a:lnTo>
                    <a:pt x="0" y="642937"/>
                  </a:lnTo>
                  <a:lnTo>
                    <a:pt x="585787" y="642937"/>
                  </a:lnTo>
                  <a:lnTo>
                    <a:pt x="585787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41412" y="2324163"/>
              <a:ext cx="575310" cy="624205"/>
            </a:xfrm>
            <a:custGeom>
              <a:avLst/>
              <a:gdLst/>
              <a:ahLst/>
              <a:cxnLst/>
              <a:rect l="l" t="t" r="r" b="b"/>
              <a:pathLst>
                <a:path w="575310" h="624205">
                  <a:moveTo>
                    <a:pt x="0" y="623887"/>
                  </a:moveTo>
                  <a:lnTo>
                    <a:pt x="574738" y="623887"/>
                  </a:lnTo>
                  <a:lnTo>
                    <a:pt x="574738" y="0"/>
                  </a:lnTo>
                  <a:lnTo>
                    <a:pt x="0" y="0"/>
                  </a:lnTo>
                  <a:lnTo>
                    <a:pt x="0" y="623887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324163"/>
              <a:ext cx="582930" cy="633730"/>
            </a:xfrm>
            <a:custGeom>
              <a:avLst/>
              <a:gdLst/>
              <a:ahLst/>
              <a:cxnLst/>
              <a:rect l="l" t="t" r="r" b="b"/>
              <a:pathLst>
                <a:path w="582930" h="633730">
                  <a:moveTo>
                    <a:pt x="582612" y="0"/>
                  </a:moveTo>
                  <a:lnTo>
                    <a:pt x="0" y="0"/>
                  </a:lnTo>
                  <a:lnTo>
                    <a:pt x="0" y="633412"/>
                  </a:lnTo>
                  <a:lnTo>
                    <a:pt x="582612" y="633412"/>
                  </a:lnTo>
                  <a:lnTo>
                    <a:pt x="582612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6151" y="2324163"/>
              <a:ext cx="574675" cy="633730"/>
            </a:xfrm>
            <a:custGeom>
              <a:avLst/>
              <a:gdLst/>
              <a:ahLst/>
              <a:cxnLst/>
              <a:rect l="l" t="t" r="r" b="b"/>
              <a:pathLst>
                <a:path w="574675" h="633730">
                  <a:moveTo>
                    <a:pt x="574675" y="0"/>
                  </a:moveTo>
                  <a:lnTo>
                    <a:pt x="0" y="0"/>
                  </a:lnTo>
                  <a:lnTo>
                    <a:pt x="0" y="633412"/>
                  </a:lnTo>
                  <a:lnTo>
                    <a:pt x="574675" y="633412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087" y="2948050"/>
              <a:ext cx="568325" cy="644525"/>
            </a:xfrm>
            <a:custGeom>
              <a:avLst/>
              <a:gdLst/>
              <a:ahLst/>
              <a:cxnLst/>
              <a:rect l="l" t="t" r="r" b="b"/>
              <a:pathLst>
                <a:path w="568325" h="644525">
                  <a:moveTo>
                    <a:pt x="0" y="644525"/>
                  </a:moveTo>
                  <a:lnTo>
                    <a:pt x="568325" y="644525"/>
                  </a:lnTo>
                  <a:lnTo>
                    <a:pt x="568325" y="0"/>
                  </a:lnTo>
                  <a:lnTo>
                    <a:pt x="0" y="0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CCC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1412" y="2948050"/>
              <a:ext cx="584200" cy="644525"/>
            </a:xfrm>
            <a:custGeom>
              <a:avLst/>
              <a:gdLst/>
              <a:ahLst/>
              <a:cxnLst/>
              <a:rect l="l" t="t" r="r" b="b"/>
              <a:pathLst>
                <a:path w="584200" h="644525">
                  <a:moveTo>
                    <a:pt x="584200" y="0"/>
                  </a:moveTo>
                  <a:lnTo>
                    <a:pt x="0" y="0"/>
                  </a:lnTo>
                  <a:lnTo>
                    <a:pt x="0" y="644525"/>
                  </a:lnTo>
                  <a:lnTo>
                    <a:pt x="584200" y="64452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049392" y="2669539"/>
            <a:ext cx="37109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To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be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continued</a:t>
            </a:r>
            <a:r>
              <a:rPr spc="-10" dirty="0">
                <a:solidFill>
                  <a:srgbClr val="FFFFFF"/>
                </a:solidFill>
                <a:latin typeface="Century Gothic"/>
                <a:cs typeface="Century Gothic"/>
              </a:rPr>
              <a:t>…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450463" y="4298441"/>
            <a:ext cx="546227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5420" algn="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BOM,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DOM,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Events,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Forms,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Drag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&amp;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Drop, </a:t>
            </a:r>
            <a:r>
              <a:rPr sz="2000" dirty="0">
                <a:latin typeface="Verdana"/>
                <a:cs typeface="Verdana"/>
              </a:rPr>
              <a:t>XML,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Client-</a:t>
            </a:r>
            <a:r>
              <a:rPr sz="2000" dirty="0">
                <a:latin typeface="Verdana"/>
                <a:cs typeface="Verdana"/>
              </a:rPr>
              <a:t>Server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Communication(AJAX),</a:t>
            </a:r>
            <a:endParaRPr sz="2000">
              <a:latin typeface="Verdana"/>
              <a:cs typeface="Verdana"/>
            </a:endParaRPr>
          </a:p>
          <a:p>
            <a:pPr marR="6350" algn="r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Verdana"/>
                <a:cs typeface="Verdana"/>
              </a:rPr>
              <a:t>Plugins,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Deployment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Issues,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Etc.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2621" y="2674112"/>
            <a:ext cx="2266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8911</Words>
  <Application>Microsoft Macintosh PowerPoint</Application>
  <PresentationFormat>On-screen Show (4:3)</PresentationFormat>
  <Paragraphs>1113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Arial</vt:lpstr>
      <vt:lpstr>Century Gothic</vt:lpstr>
      <vt:lpstr>Times New Roman</vt:lpstr>
      <vt:lpstr>Verdana</vt:lpstr>
      <vt:lpstr>Wingdings</vt:lpstr>
      <vt:lpstr>Office Theme</vt:lpstr>
      <vt:lpstr>JavaScript Programming</vt:lpstr>
      <vt:lpstr>Contents</vt:lpstr>
      <vt:lpstr>What Is JavaScript?</vt:lpstr>
      <vt:lpstr>A Brief History of JavaScript</vt:lpstr>
      <vt:lpstr>JavaScript Implementations</vt:lpstr>
      <vt:lpstr>ECMAScript</vt:lpstr>
      <vt:lpstr>Document Object Model (DOM)</vt:lpstr>
      <vt:lpstr>Browser Object Model (BOM)</vt:lpstr>
      <vt:lpstr>JavaScript is…</vt:lpstr>
      <vt:lpstr>JavaScript Basics (ECMAScript)</vt:lpstr>
      <vt:lpstr>Syntax</vt:lpstr>
      <vt:lpstr>Keywords &amp; Reserved Words</vt:lpstr>
      <vt:lpstr>Primitive and Reference Values</vt:lpstr>
      <vt:lpstr>Primitive Types</vt:lpstr>
      <vt:lpstr>The typeof Operator</vt:lpstr>
      <vt:lpstr>Conversions</vt:lpstr>
      <vt:lpstr>Type Casting</vt:lpstr>
      <vt:lpstr>Reference Types</vt:lpstr>
      <vt:lpstr>The Object Class</vt:lpstr>
      <vt:lpstr>Primitive Type-related Classes</vt:lpstr>
      <vt:lpstr>Operators</vt:lpstr>
      <vt:lpstr>Statements</vt:lpstr>
      <vt:lpstr>Functions</vt:lpstr>
      <vt:lpstr>Functions</vt:lpstr>
      <vt:lpstr>Functions</vt:lpstr>
      <vt:lpstr>Object Oriented Programming in JavaScript</vt:lpstr>
      <vt:lpstr>Object Oriented Terminology</vt:lpstr>
      <vt:lpstr>Class-based vs. Prototype-based</vt:lpstr>
      <vt:lpstr>Early Binding vs. Late Binding</vt:lpstr>
      <vt:lpstr>Types of Objects in JavaScript</vt:lpstr>
      <vt:lpstr>The Array Class</vt:lpstr>
      <vt:lpstr>The Date Class</vt:lpstr>
      <vt:lpstr>The Global Object</vt:lpstr>
      <vt:lpstr>The Math Object</vt:lpstr>
      <vt:lpstr>Scope</vt:lpstr>
      <vt:lpstr>Objects in JavaScript</vt:lpstr>
      <vt:lpstr>Objects in JavaScript</vt:lpstr>
      <vt:lpstr>Objects in JavaScript</vt:lpstr>
      <vt:lpstr>Constructor</vt:lpstr>
      <vt:lpstr>Prototype</vt:lpstr>
      <vt:lpstr>Defining Classes and Objects</vt:lpstr>
      <vt:lpstr>Defining Classes and Objects</vt:lpstr>
      <vt:lpstr>Defining Classes and Objects</vt:lpstr>
      <vt:lpstr>Defining Classes and Objects</vt:lpstr>
      <vt:lpstr>Defining Classes and Objects</vt:lpstr>
      <vt:lpstr>A Practical Example – StringBuffer</vt:lpstr>
      <vt:lpstr>Modifying Objects</vt:lpstr>
      <vt:lpstr>Implementing Inheritance</vt:lpstr>
      <vt:lpstr>Implementing Inheritance</vt:lpstr>
      <vt:lpstr>Implementing Inheritance</vt:lpstr>
      <vt:lpstr>Implementing Inheritance</vt:lpstr>
      <vt:lpstr>Implementing Inheritance</vt:lpstr>
      <vt:lpstr>Implementing Inheritance</vt:lpstr>
      <vt:lpstr>A Practical Example - Polygon</vt:lpstr>
      <vt:lpstr>A Practical Example - Polygon</vt:lpstr>
      <vt:lpstr>Regular Expressions</vt:lpstr>
      <vt:lpstr>Regular Expression Support</vt:lpstr>
      <vt:lpstr>Using a RegExp Object</vt:lpstr>
      <vt:lpstr>Characters in Regular Expressions</vt:lpstr>
      <vt:lpstr>Character Classes</vt:lpstr>
      <vt:lpstr>Character Classes</vt:lpstr>
      <vt:lpstr>Quantifiers</vt:lpstr>
      <vt:lpstr>Quantifiers</vt:lpstr>
      <vt:lpstr>Grouping</vt:lpstr>
      <vt:lpstr>Backreferences</vt:lpstr>
      <vt:lpstr>Non-capturing Groups</vt:lpstr>
      <vt:lpstr>Alternation</vt:lpstr>
      <vt:lpstr>Lookaheads</vt:lpstr>
      <vt:lpstr>Boundaries</vt:lpstr>
      <vt:lpstr>Multiline Mode</vt:lpstr>
      <vt:lpstr>The RegExp Object</vt:lpstr>
      <vt:lpstr>A Practical Example</vt:lpstr>
      <vt:lpstr>Error Handling</vt:lpstr>
      <vt:lpstr>Handling Errors</vt:lpstr>
      <vt:lpstr>The onerror Event Handler</vt:lpstr>
      <vt:lpstr>The try...catch Statement</vt:lpstr>
      <vt:lpstr>Determining the Type of Error</vt:lpstr>
      <vt:lpstr>Raising Exceptions</vt:lpstr>
      <vt:lpstr>References</vt:lpstr>
      <vt:lpstr>To be continued…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Programming</dc:title>
  <dc:creator>Sehwa Noh</dc:creator>
  <cp:lastModifiedBy>Bhuvana Gokul</cp:lastModifiedBy>
  <cp:revision>1</cp:revision>
  <dcterms:created xsi:type="dcterms:W3CDTF">2025-06-06T06:48:22Z</dcterms:created>
  <dcterms:modified xsi:type="dcterms:W3CDTF">2025-11-21T03:25:40Z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2025-06-06T00:00:00Z</vt:filetime>
  </property>
  <property fmtid="{D5CDD505-2E9C-101B-9397-08002B2CF9AE}" pid="5" name="Producer">
    <vt:lpwstr>Microsoft® PowerPoint® 2010</vt:lpwstr>
  </property>
</Properties>
</file>